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4" r:id="rId5"/>
  </p:sldMasterIdLst>
  <p:notesMasterIdLst>
    <p:notesMasterId r:id="rId18"/>
  </p:notesMasterIdLst>
  <p:sldIdLst>
    <p:sldId id="256" r:id="rId6"/>
    <p:sldId id="270" r:id="rId7"/>
    <p:sldId id="276" r:id="rId8"/>
    <p:sldId id="277" r:id="rId9"/>
    <p:sldId id="275" r:id="rId10"/>
    <p:sldId id="274" r:id="rId11"/>
    <p:sldId id="316" r:id="rId12"/>
    <p:sldId id="318" r:id="rId13"/>
    <p:sldId id="319" r:id="rId14"/>
    <p:sldId id="320" r:id="rId15"/>
    <p:sldId id="321" r:id="rId16"/>
    <p:sldId id="31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61FF"/>
    <a:srgbClr val="D8C5BF"/>
    <a:srgbClr val="2A5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9" autoAdjust="0"/>
    <p:restoredTop sz="86649" autoAdjust="0"/>
  </p:normalViewPr>
  <p:slideViewPr>
    <p:cSldViewPr snapToGrid="0">
      <p:cViewPr varScale="1">
        <p:scale>
          <a:sx n="96" d="100"/>
          <a:sy n="96" d="100"/>
        </p:scale>
        <p:origin x="1476" y="7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lhs\2.BUS\DATA\&#45824;&#51473;&#44368;&#53685;_&#51060;&#50857;&#44148;&#49688;_&#49884;&#44033;&#54868;_26.01.08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[대중교통_이용건수_시각화_26.01.08.xlsx]대중교통 각 년 이용건수!피벗 테이블1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'대중교통 각 년 이용건수'!$L$3</c:f>
              <c:strCache>
                <c:ptCount val="1"/>
                <c:pt idx="0">
                  <c:v>합계 : 자동차_등록대수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'대중교통 각 년 이용건수'!$K$4:$K$8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'대중교통 각 년 이용건수'!$L$4:$L$8</c:f>
              <c:numCache>
                <c:formatCode>General</c:formatCode>
                <c:ptCount val="4"/>
                <c:pt idx="0">
                  <c:v>3158710</c:v>
                </c:pt>
                <c:pt idx="1">
                  <c:v>3180299</c:v>
                </c:pt>
                <c:pt idx="2">
                  <c:v>3191538</c:v>
                </c:pt>
                <c:pt idx="3">
                  <c:v>3187776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43-4F01-9A1F-0FA5BA0A71A2}"/>
            </c:ext>
          </c:extLst>
        </c:ser>
        <c:ser>
          <c:idx val="1"/>
          <c:order val="1"/>
          <c:tx>
            <c:strRef>
              <c:f>'대중교통 각 년 이용건수'!$M$3</c:f>
              <c:strCache>
                <c:ptCount val="1"/>
                <c:pt idx="0">
                  <c:v>합계 : 버스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'대중교통 각 년 이용건수'!$K$4:$K$8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'대중교통 각 년 이용건수'!$M$4:$M$8</c:f>
              <c:numCache>
                <c:formatCode>General</c:formatCode>
                <c:ptCount val="4"/>
                <c:pt idx="0">
                  <c:v>1344157818</c:v>
                </c:pt>
                <c:pt idx="1">
                  <c:v>1476650050</c:v>
                </c:pt>
                <c:pt idx="2">
                  <c:v>1524180658</c:v>
                </c:pt>
                <c:pt idx="3">
                  <c:v>1582835588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43-4F01-9A1F-0FA5BA0A71A2}"/>
            </c:ext>
          </c:extLst>
        </c:ser>
        <c:ser>
          <c:idx val="2"/>
          <c:order val="2"/>
          <c:tx>
            <c:strRef>
              <c:f>'대중교통 각 년 이용건수'!$N$3</c:f>
              <c:strCache>
                <c:ptCount val="1"/>
                <c:pt idx="0">
                  <c:v>합계 : 지하철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'대중교통 각 년 이용건수'!$K$4:$K$8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'대중교통 각 년 이용건수'!$N$4:$N$8</c:f>
              <c:numCache>
                <c:formatCode>General</c:formatCode>
                <c:ptCount val="4"/>
                <c:pt idx="0">
                  <c:v>1430691108</c:v>
                </c:pt>
                <c:pt idx="1">
                  <c:v>1620682806</c:v>
                </c:pt>
                <c:pt idx="2">
                  <c:v>1773502241</c:v>
                </c:pt>
                <c:pt idx="3">
                  <c:v>1831217498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43-4F01-9A1F-0FA5BA0A71A2}"/>
            </c:ext>
          </c:extLst>
        </c:ser>
        <c:ser>
          <c:idx val="3"/>
          <c:order val="3"/>
          <c:tx>
            <c:strRef>
              <c:f>'대중교통 각 년 이용건수'!$O$3</c:f>
              <c:strCache>
                <c:ptCount val="1"/>
                <c:pt idx="0">
                  <c:v>합계 : 택시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'대중교통 각 년 이용건수'!$K$4:$K$8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'대중교통 각 년 이용건수'!$O$4:$O$8</c:f>
              <c:numCache>
                <c:formatCode>General</c:formatCode>
                <c:ptCount val="4"/>
                <c:pt idx="0">
                  <c:v>245574300</c:v>
                </c:pt>
                <c:pt idx="1">
                  <c:v>239960766</c:v>
                </c:pt>
                <c:pt idx="2">
                  <c:v>193223841</c:v>
                </c:pt>
                <c:pt idx="3">
                  <c:v>237064584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43-4F01-9A1F-0FA5BA0A71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47226016"/>
        <c:axId val="847221216"/>
      </c:barChart>
      <c:catAx>
        <c:axId val="847226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7221216"/>
        <c:crosses val="autoZero"/>
        <c:auto val="1"/>
        <c:lblAlgn val="ctr"/>
        <c:lblOffset val="100"/>
        <c:noMultiLvlLbl val="0"/>
      </c:catAx>
      <c:valAx>
        <c:axId val="84722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47226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333333333333329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'지역별 파이그래프'!$P$4</c:f>
              <c:strCache>
                <c:ptCount val="1"/>
                <c:pt idx="0">
                  <c:v>강남구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BF-4E91-9EAC-9300B4545FD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7BF-4E91-9EAC-9300B4545FD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7BF-4E91-9EAC-9300B4545FD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'지역별 파이그래프'!$Q$3:$S$3</c:f>
              <c:strCache>
                <c:ptCount val="3"/>
                <c:pt idx="0">
                  <c:v>합계 : 버스</c:v>
                </c:pt>
                <c:pt idx="1">
                  <c:v>합계 : 지하철</c:v>
                </c:pt>
                <c:pt idx="2">
                  <c:v>합계 : 택시</c:v>
                </c:pt>
              </c:strCache>
            </c:strRef>
          </c:cat>
          <c:val>
            <c:numRef>
              <c:f>'지역별 파이그래프'!$Q$4:$S$4</c:f>
              <c:numCache>
                <c:formatCode>General</c:formatCode>
                <c:ptCount val="3"/>
                <c:pt idx="0">
                  <c:v>413121562</c:v>
                </c:pt>
                <c:pt idx="1">
                  <c:v>656355602</c:v>
                </c:pt>
                <c:pt idx="2">
                  <c:v>116635047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BF-4E91-9EAC-9300B4545FD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'지역별 파이그래프'!$P$22</c:f>
              <c:strCache>
                <c:ptCount val="1"/>
                <c:pt idx="0">
                  <c:v>종로구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83E-40E0-9515-007F8B7D4AA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83E-40E0-9515-007F8B7D4AA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83E-40E0-9515-007F8B7D4A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'지역별 파이그래프'!$Q$21:$S$21</c:f>
              <c:strCache>
                <c:ptCount val="3"/>
                <c:pt idx="0">
                  <c:v>합계 : 버스</c:v>
                </c:pt>
                <c:pt idx="1">
                  <c:v>합계 : 지하철</c:v>
                </c:pt>
                <c:pt idx="2">
                  <c:v>합계 : 택시</c:v>
                </c:pt>
              </c:strCache>
            </c:strRef>
          </c:cat>
          <c:val>
            <c:numRef>
              <c:f>'지역별 파이그래프'!$Q$22:$S$22</c:f>
              <c:numCache>
                <c:formatCode>General</c:formatCode>
                <c:ptCount val="3"/>
                <c:pt idx="0">
                  <c:v>270166411</c:v>
                </c:pt>
                <c:pt idx="1">
                  <c:v>369163287</c:v>
                </c:pt>
                <c:pt idx="2">
                  <c:v>32486824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3E-40E0-9515-007F8B7D4AA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'지역별 파이그래프'!$P$39</c:f>
              <c:strCache>
                <c:ptCount val="1"/>
                <c:pt idx="0">
                  <c:v>영등포구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014-4B85-877A-138D17F21B3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014-4B85-877A-138D17F21B3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014-4B85-877A-138D17F21B3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'지역별 파이그래프'!$Q$38:$S$38</c:f>
              <c:strCache>
                <c:ptCount val="3"/>
                <c:pt idx="0">
                  <c:v>합계 : 버스</c:v>
                </c:pt>
                <c:pt idx="1">
                  <c:v>합계 : 지하철</c:v>
                </c:pt>
                <c:pt idx="2">
                  <c:v>합계 : 택시</c:v>
                </c:pt>
              </c:strCache>
            </c:strRef>
          </c:cat>
          <c:val>
            <c:numRef>
              <c:f>'지역별 파이그래프'!$Q$39:$S$39</c:f>
              <c:numCache>
                <c:formatCode>General</c:formatCode>
                <c:ptCount val="3"/>
                <c:pt idx="0">
                  <c:v>548188041</c:v>
                </c:pt>
                <c:pt idx="1">
                  <c:v>746531827</c:v>
                </c:pt>
                <c:pt idx="2">
                  <c:v>85749923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014-4B85-877A-138D17F21B3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'지역별 파이그래프'!$P$57</c:f>
              <c:strCache>
                <c:ptCount val="1"/>
                <c:pt idx="0">
                  <c:v>은평구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4B2-4C6B-B01A-31B831D474E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4B2-4C6B-B01A-31B831D474E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4B2-4C6B-B01A-31B831D474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'지역별 파이그래프'!$Q$56:$S$56</c:f>
              <c:strCache>
                <c:ptCount val="3"/>
                <c:pt idx="0">
                  <c:v>합계 : 버스</c:v>
                </c:pt>
                <c:pt idx="1">
                  <c:v>합계 : 지하철</c:v>
                </c:pt>
                <c:pt idx="2">
                  <c:v>합계 : 택시</c:v>
                </c:pt>
              </c:strCache>
            </c:strRef>
          </c:cat>
          <c:val>
            <c:numRef>
              <c:f>'지역별 파이그래프'!$Q$57:$S$57</c:f>
              <c:numCache>
                <c:formatCode>General</c:formatCode>
                <c:ptCount val="3"/>
                <c:pt idx="0">
                  <c:v>248392278</c:v>
                </c:pt>
                <c:pt idx="1">
                  <c:v>198821000</c:v>
                </c:pt>
                <c:pt idx="2">
                  <c:v>26404351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4B2-4C6B-B01A-31B831D474E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[대중교통_이용건수_시각화_26.01.08.xlsx]지역별 누적 막대 그래프!피벗 테이블2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버스 이용건수</a:t>
            </a:r>
          </a:p>
        </c:rich>
      </c:tx>
      <c:layout>
        <c:manualLayout>
          <c:xMode val="edge"/>
          <c:yMode val="edge"/>
          <c:x val="0.42530953620790463"/>
          <c:y val="1.15448333984333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265476294308022"/>
          <c:y val="0.12722911491534752"/>
          <c:w val="0.73335836191735226"/>
          <c:h val="0.65109345512348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'지역별 누적 막대 그래프'!$L$2:$L$3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그래프'!$K$4:$K$29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그래프'!$L$4:$L$29</c:f>
              <c:numCache>
                <c:formatCode>General</c:formatCode>
                <c:ptCount val="25"/>
                <c:pt idx="0">
                  <c:v>93477395</c:v>
                </c:pt>
                <c:pt idx="1">
                  <c:v>32292610</c:v>
                </c:pt>
                <c:pt idx="2">
                  <c:v>54255008</c:v>
                </c:pt>
                <c:pt idx="3">
                  <c:v>52107668</c:v>
                </c:pt>
                <c:pt idx="4">
                  <c:v>81960533</c:v>
                </c:pt>
                <c:pt idx="5">
                  <c:v>29859594</c:v>
                </c:pt>
                <c:pt idx="6">
                  <c:v>60237240</c:v>
                </c:pt>
                <c:pt idx="7">
                  <c:v>42139004</c:v>
                </c:pt>
                <c:pt idx="8">
                  <c:v>46165813</c:v>
                </c:pt>
                <c:pt idx="9">
                  <c:v>37019485</c:v>
                </c:pt>
                <c:pt idx="10">
                  <c:v>57791744</c:v>
                </c:pt>
                <c:pt idx="11">
                  <c:v>58188663</c:v>
                </c:pt>
                <c:pt idx="12">
                  <c:v>56944960</c:v>
                </c:pt>
                <c:pt idx="13">
                  <c:v>60695355</c:v>
                </c:pt>
                <c:pt idx="14">
                  <c:v>72872287</c:v>
                </c:pt>
                <c:pt idx="15">
                  <c:v>31552270</c:v>
                </c:pt>
                <c:pt idx="16">
                  <c:v>67929727</c:v>
                </c:pt>
                <c:pt idx="17">
                  <c:v>60517668</c:v>
                </c:pt>
                <c:pt idx="18">
                  <c:v>46183700</c:v>
                </c:pt>
                <c:pt idx="19">
                  <c:v>61964048</c:v>
                </c:pt>
                <c:pt idx="20">
                  <c:v>43905878</c:v>
                </c:pt>
                <c:pt idx="21">
                  <c:v>57517380</c:v>
                </c:pt>
                <c:pt idx="22">
                  <c:v>57821751</c:v>
                </c:pt>
                <c:pt idx="23">
                  <c:v>39190006</c:v>
                </c:pt>
                <c:pt idx="24">
                  <c:v>41568031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CD-49B4-BF46-5DCDA39A242A}"/>
            </c:ext>
          </c:extLst>
        </c:ser>
        <c:ser>
          <c:idx val="1"/>
          <c:order val="1"/>
          <c:tx>
            <c:strRef>
              <c:f>'지역별 누적 막대 그래프'!$M$2:$M$3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그래프'!$K$4:$K$29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그래프'!$M$4:$M$29</c:f>
              <c:numCache>
                <c:formatCode>General</c:formatCode>
                <c:ptCount val="25"/>
                <c:pt idx="0">
                  <c:v>103379977</c:v>
                </c:pt>
                <c:pt idx="1">
                  <c:v>35194304</c:v>
                </c:pt>
                <c:pt idx="2">
                  <c:v>57994006</c:v>
                </c:pt>
                <c:pt idx="3">
                  <c:v>55871596</c:v>
                </c:pt>
                <c:pt idx="4">
                  <c:v>90076319</c:v>
                </c:pt>
                <c:pt idx="5">
                  <c:v>33234902</c:v>
                </c:pt>
                <c:pt idx="6">
                  <c:v>61042525</c:v>
                </c:pt>
                <c:pt idx="7">
                  <c:v>45064854</c:v>
                </c:pt>
                <c:pt idx="8">
                  <c:v>50579231</c:v>
                </c:pt>
                <c:pt idx="9">
                  <c:v>38900295</c:v>
                </c:pt>
                <c:pt idx="10">
                  <c:v>63284045</c:v>
                </c:pt>
                <c:pt idx="11">
                  <c:v>62588194</c:v>
                </c:pt>
                <c:pt idx="12">
                  <c:v>64510577</c:v>
                </c:pt>
                <c:pt idx="13">
                  <c:v>68059904</c:v>
                </c:pt>
                <c:pt idx="14">
                  <c:v>78195534</c:v>
                </c:pt>
                <c:pt idx="15">
                  <c:v>34157923</c:v>
                </c:pt>
                <c:pt idx="16">
                  <c:v>76331592</c:v>
                </c:pt>
                <c:pt idx="17">
                  <c:v>67415209</c:v>
                </c:pt>
                <c:pt idx="18">
                  <c:v>49938837</c:v>
                </c:pt>
                <c:pt idx="19">
                  <c:v>69289958</c:v>
                </c:pt>
                <c:pt idx="20">
                  <c:v>50537978</c:v>
                </c:pt>
                <c:pt idx="21">
                  <c:v>61790167</c:v>
                </c:pt>
                <c:pt idx="22">
                  <c:v>67454849</c:v>
                </c:pt>
                <c:pt idx="23">
                  <c:v>45724150</c:v>
                </c:pt>
                <c:pt idx="24">
                  <c:v>46033124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CD-49B4-BF46-5DCDA39A242A}"/>
            </c:ext>
          </c:extLst>
        </c:ser>
        <c:ser>
          <c:idx val="2"/>
          <c:order val="2"/>
          <c:tx>
            <c:strRef>
              <c:f>'지역별 누적 막대 그래프'!$N$2:$N$3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그래프'!$K$4:$K$29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그래프'!$N$4:$N$29</c:f>
              <c:numCache>
                <c:formatCode>General</c:formatCode>
                <c:ptCount val="25"/>
                <c:pt idx="0">
                  <c:v>104997484</c:v>
                </c:pt>
                <c:pt idx="1">
                  <c:v>35282772</c:v>
                </c:pt>
                <c:pt idx="2">
                  <c:v>59000850</c:v>
                </c:pt>
                <c:pt idx="3">
                  <c:v>57398643</c:v>
                </c:pt>
                <c:pt idx="4">
                  <c:v>89284855</c:v>
                </c:pt>
                <c:pt idx="5">
                  <c:v>34809718</c:v>
                </c:pt>
                <c:pt idx="6">
                  <c:v>62850315</c:v>
                </c:pt>
                <c:pt idx="7">
                  <c:v>46171676</c:v>
                </c:pt>
                <c:pt idx="8">
                  <c:v>51726460</c:v>
                </c:pt>
                <c:pt idx="9">
                  <c:v>39783107</c:v>
                </c:pt>
                <c:pt idx="10">
                  <c:v>67437050</c:v>
                </c:pt>
                <c:pt idx="11">
                  <c:v>62446828</c:v>
                </c:pt>
                <c:pt idx="12">
                  <c:v>68374401</c:v>
                </c:pt>
                <c:pt idx="13">
                  <c:v>72292718</c:v>
                </c:pt>
                <c:pt idx="14">
                  <c:v>78646999</c:v>
                </c:pt>
                <c:pt idx="15">
                  <c:v>35237767</c:v>
                </c:pt>
                <c:pt idx="16">
                  <c:v>79361062</c:v>
                </c:pt>
                <c:pt idx="17">
                  <c:v>69881907</c:v>
                </c:pt>
                <c:pt idx="18">
                  <c:v>51701808</c:v>
                </c:pt>
                <c:pt idx="19">
                  <c:v>72387873</c:v>
                </c:pt>
                <c:pt idx="20">
                  <c:v>54008803</c:v>
                </c:pt>
                <c:pt idx="21">
                  <c:v>63338467</c:v>
                </c:pt>
                <c:pt idx="22">
                  <c:v>70681425</c:v>
                </c:pt>
                <c:pt idx="23">
                  <c:v>48721660</c:v>
                </c:pt>
                <c:pt idx="24">
                  <c:v>48356010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CD-49B4-BF46-5DCDA39A242A}"/>
            </c:ext>
          </c:extLst>
        </c:ser>
        <c:ser>
          <c:idx val="3"/>
          <c:order val="3"/>
          <c:tx>
            <c:strRef>
              <c:f>'지역별 누적 막대 그래프'!$O$2:$O$3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그래프'!$K$4:$K$29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그래프'!$O$4:$O$29</c:f>
              <c:numCache>
                <c:formatCode>General</c:formatCode>
                <c:ptCount val="25"/>
                <c:pt idx="0">
                  <c:v>111266706</c:v>
                </c:pt>
                <c:pt idx="1">
                  <c:v>38033929</c:v>
                </c:pt>
                <c:pt idx="2">
                  <c:v>60149464</c:v>
                </c:pt>
                <c:pt idx="3">
                  <c:v>58712738</c:v>
                </c:pt>
                <c:pt idx="4">
                  <c:v>91648849</c:v>
                </c:pt>
                <c:pt idx="5">
                  <c:v>36851896</c:v>
                </c:pt>
                <c:pt idx="6">
                  <c:v>64242239</c:v>
                </c:pt>
                <c:pt idx="7">
                  <c:v>45829736</c:v>
                </c:pt>
                <c:pt idx="8">
                  <c:v>53541282</c:v>
                </c:pt>
                <c:pt idx="9">
                  <c:v>40702065</c:v>
                </c:pt>
                <c:pt idx="10">
                  <c:v>70686857</c:v>
                </c:pt>
                <c:pt idx="11">
                  <c:v>65399210</c:v>
                </c:pt>
                <c:pt idx="12">
                  <c:v>71954538</c:v>
                </c:pt>
                <c:pt idx="13">
                  <c:v>75152493</c:v>
                </c:pt>
                <c:pt idx="14">
                  <c:v>81739104</c:v>
                </c:pt>
                <c:pt idx="15">
                  <c:v>37079391</c:v>
                </c:pt>
                <c:pt idx="16">
                  <c:v>81559692</c:v>
                </c:pt>
                <c:pt idx="17">
                  <c:v>71926631</c:v>
                </c:pt>
                <c:pt idx="18">
                  <c:v>52935254</c:v>
                </c:pt>
                <c:pt idx="19">
                  <c:v>74379751</c:v>
                </c:pt>
                <c:pt idx="20">
                  <c:v>56796253</c:v>
                </c:pt>
                <c:pt idx="21">
                  <c:v>65746264</c:v>
                </c:pt>
                <c:pt idx="22">
                  <c:v>74208386</c:v>
                </c:pt>
                <c:pt idx="23">
                  <c:v>52435264</c:v>
                </c:pt>
                <c:pt idx="24">
                  <c:v>49857596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CD-49B4-BF46-5DCDA39A24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48759519"/>
        <c:axId val="1748751839"/>
      </c:barChart>
      <c:catAx>
        <c:axId val="17487595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8751839"/>
        <c:crosses val="autoZero"/>
        <c:auto val="1"/>
        <c:lblAlgn val="ctr"/>
        <c:lblOffset val="100"/>
        <c:noMultiLvlLbl val="0"/>
      </c:catAx>
      <c:valAx>
        <c:axId val="17487518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87595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[대중교통_이용건수_시각화_26.01.08.xlsx]지역별 누적 막대 그래프!피벗 테이블3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altLang="ko-KR"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지하철 이용건수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altLang="ko-KR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'지역별 누적 막대 그래프'!$L$35:$L$36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그래프'!$K$37:$K$62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그래프'!$L$37:$L$62</c:f>
              <c:numCache>
                <c:formatCode>General</c:formatCode>
                <c:ptCount val="25"/>
                <c:pt idx="0">
                  <c:v>139523472</c:v>
                </c:pt>
                <c:pt idx="1">
                  <c:v>45671791</c:v>
                </c:pt>
                <c:pt idx="2">
                  <c:v>28068271</c:v>
                </c:pt>
                <c:pt idx="3">
                  <c:v>62794479</c:v>
                </c:pt>
                <c:pt idx="4">
                  <c:v>75428105</c:v>
                </c:pt>
                <c:pt idx="5">
                  <c:v>56633974</c:v>
                </c:pt>
                <c:pt idx="6">
                  <c:v>56036771</c:v>
                </c:pt>
                <c:pt idx="7">
                  <c:v>19830665</c:v>
                </c:pt>
                <c:pt idx="8">
                  <c:v>52909026</c:v>
                </c:pt>
                <c:pt idx="9">
                  <c:v>25198610</c:v>
                </c:pt>
                <c:pt idx="10">
                  <c:v>31218408</c:v>
                </c:pt>
                <c:pt idx="11">
                  <c:v>45706535</c:v>
                </c:pt>
                <c:pt idx="12">
                  <c:v>78992624</c:v>
                </c:pt>
                <c:pt idx="13">
                  <c:v>28742860</c:v>
                </c:pt>
                <c:pt idx="14">
                  <c:v>104225039</c:v>
                </c:pt>
                <c:pt idx="15">
                  <c:v>56470250</c:v>
                </c:pt>
                <c:pt idx="16">
                  <c:v>37822410</c:v>
                </c:pt>
                <c:pt idx="17">
                  <c:v>89719740</c:v>
                </c:pt>
                <c:pt idx="18">
                  <c:v>30359568</c:v>
                </c:pt>
                <c:pt idx="19">
                  <c:v>81402306</c:v>
                </c:pt>
                <c:pt idx="20">
                  <c:v>32335411</c:v>
                </c:pt>
                <c:pt idx="21">
                  <c:v>45319869</c:v>
                </c:pt>
                <c:pt idx="22">
                  <c:v>75771163</c:v>
                </c:pt>
                <c:pt idx="23">
                  <c:v>100938579</c:v>
                </c:pt>
                <c:pt idx="24">
                  <c:v>29571182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48-45A3-88B3-2674FB840890}"/>
            </c:ext>
          </c:extLst>
        </c:ser>
        <c:ser>
          <c:idx val="1"/>
          <c:order val="1"/>
          <c:tx>
            <c:strRef>
              <c:f>'지역별 누적 막대 그래프'!$M$35:$M$36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그래프'!$K$37:$K$62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그래프'!$M$37:$M$62</c:f>
              <c:numCache>
                <c:formatCode>General</c:formatCode>
                <c:ptCount val="25"/>
                <c:pt idx="0">
                  <c:v>161272441</c:v>
                </c:pt>
                <c:pt idx="1">
                  <c:v>49416957</c:v>
                </c:pt>
                <c:pt idx="2">
                  <c:v>30445153</c:v>
                </c:pt>
                <c:pt idx="3">
                  <c:v>69470943</c:v>
                </c:pt>
                <c:pt idx="4">
                  <c:v>84916033</c:v>
                </c:pt>
                <c:pt idx="5">
                  <c:v>64860255</c:v>
                </c:pt>
                <c:pt idx="6">
                  <c:v>59580422</c:v>
                </c:pt>
                <c:pt idx="7">
                  <c:v>20465940</c:v>
                </c:pt>
                <c:pt idx="8">
                  <c:v>57264326</c:v>
                </c:pt>
                <c:pt idx="9">
                  <c:v>26987249</c:v>
                </c:pt>
                <c:pt idx="10">
                  <c:v>34854710</c:v>
                </c:pt>
                <c:pt idx="11">
                  <c:v>51528199</c:v>
                </c:pt>
                <c:pt idx="12">
                  <c:v>91948749</c:v>
                </c:pt>
                <c:pt idx="13">
                  <c:v>32850877</c:v>
                </c:pt>
                <c:pt idx="14">
                  <c:v>117324071</c:v>
                </c:pt>
                <c:pt idx="15">
                  <c:v>64269063</c:v>
                </c:pt>
                <c:pt idx="16">
                  <c:v>43239120</c:v>
                </c:pt>
                <c:pt idx="17">
                  <c:v>104523594</c:v>
                </c:pt>
                <c:pt idx="18">
                  <c:v>33236941</c:v>
                </c:pt>
                <c:pt idx="19">
                  <c:v>91890433</c:v>
                </c:pt>
                <c:pt idx="20">
                  <c:v>39369572</c:v>
                </c:pt>
                <c:pt idx="21">
                  <c:v>48938669</c:v>
                </c:pt>
                <c:pt idx="22">
                  <c:v>89319867</c:v>
                </c:pt>
                <c:pt idx="23">
                  <c:v>120765784</c:v>
                </c:pt>
                <c:pt idx="24">
                  <c:v>31943438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48-45A3-88B3-2674FB840890}"/>
            </c:ext>
          </c:extLst>
        </c:ser>
        <c:ser>
          <c:idx val="2"/>
          <c:order val="2"/>
          <c:tx>
            <c:strRef>
              <c:f>'지역별 누적 막대 그래프'!$N$35:$N$36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그래프'!$K$37:$K$62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그래프'!$N$37:$N$62</c:f>
              <c:numCache>
                <c:formatCode>General</c:formatCode>
                <c:ptCount val="25"/>
                <c:pt idx="0">
                  <c:v>175606259</c:v>
                </c:pt>
                <c:pt idx="1">
                  <c:v>51997375</c:v>
                </c:pt>
                <c:pt idx="2">
                  <c:v>32266378</c:v>
                </c:pt>
                <c:pt idx="3">
                  <c:v>75470439</c:v>
                </c:pt>
                <c:pt idx="4">
                  <c:v>90767121</c:v>
                </c:pt>
                <c:pt idx="5">
                  <c:v>69506034</c:v>
                </c:pt>
                <c:pt idx="6">
                  <c:v>63065182</c:v>
                </c:pt>
                <c:pt idx="7">
                  <c:v>21372019</c:v>
                </c:pt>
                <c:pt idx="8">
                  <c:v>61347921</c:v>
                </c:pt>
                <c:pt idx="9">
                  <c:v>28321911</c:v>
                </c:pt>
                <c:pt idx="10">
                  <c:v>37821239</c:v>
                </c:pt>
                <c:pt idx="11">
                  <c:v>55771179</c:v>
                </c:pt>
                <c:pt idx="12">
                  <c:v>103281308</c:v>
                </c:pt>
                <c:pt idx="13">
                  <c:v>36582300</c:v>
                </c:pt>
                <c:pt idx="14">
                  <c:v>127350104</c:v>
                </c:pt>
                <c:pt idx="15">
                  <c:v>70179191</c:v>
                </c:pt>
                <c:pt idx="16">
                  <c:v>46809536</c:v>
                </c:pt>
                <c:pt idx="17">
                  <c:v>115250643</c:v>
                </c:pt>
                <c:pt idx="18">
                  <c:v>35246960</c:v>
                </c:pt>
                <c:pt idx="19">
                  <c:v>100244057</c:v>
                </c:pt>
                <c:pt idx="20">
                  <c:v>44222766</c:v>
                </c:pt>
                <c:pt idx="21">
                  <c:v>51822570</c:v>
                </c:pt>
                <c:pt idx="22">
                  <c:v>100748476</c:v>
                </c:pt>
                <c:pt idx="23">
                  <c:v>144615589</c:v>
                </c:pt>
                <c:pt idx="24">
                  <c:v>33835684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48-45A3-88B3-2674FB840890}"/>
            </c:ext>
          </c:extLst>
        </c:ser>
        <c:ser>
          <c:idx val="3"/>
          <c:order val="3"/>
          <c:tx>
            <c:strRef>
              <c:f>'지역별 누적 막대 그래프'!$O$35:$O$36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그래프'!$K$37:$K$62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그래프'!$O$37:$O$62</c:f>
              <c:numCache>
                <c:formatCode>General</c:formatCode>
                <c:ptCount val="25"/>
                <c:pt idx="0">
                  <c:v>179953430</c:v>
                </c:pt>
                <c:pt idx="1">
                  <c:v>55794880</c:v>
                </c:pt>
                <c:pt idx="2">
                  <c:v>32634332</c:v>
                </c:pt>
                <c:pt idx="3">
                  <c:v>78419782</c:v>
                </c:pt>
                <c:pt idx="4">
                  <c:v>92102308</c:v>
                </c:pt>
                <c:pt idx="5">
                  <c:v>70329994</c:v>
                </c:pt>
                <c:pt idx="6">
                  <c:v>63648432</c:v>
                </c:pt>
                <c:pt idx="7">
                  <c:v>21506116</c:v>
                </c:pt>
                <c:pt idx="8">
                  <c:v>65760380</c:v>
                </c:pt>
                <c:pt idx="9">
                  <c:v>29260920</c:v>
                </c:pt>
                <c:pt idx="10">
                  <c:v>39182683</c:v>
                </c:pt>
                <c:pt idx="11">
                  <c:v>57208566</c:v>
                </c:pt>
                <c:pt idx="12">
                  <c:v>107502551</c:v>
                </c:pt>
                <c:pt idx="13">
                  <c:v>37369540</c:v>
                </c:pt>
                <c:pt idx="14">
                  <c:v>130172545</c:v>
                </c:pt>
                <c:pt idx="15">
                  <c:v>73862010</c:v>
                </c:pt>
                <c:pt idx="16">
                  <c:v>47802034</c:v>
                </c:pt>
                <c:pt idx="17">
                  <c:v>120662352</c:v>
                </c:pt>
                <c:pt idx="18">
                  <c:v>35719191</c:v>
                </c:pt>
                <c:pt idx="19">
                  <c:v>103831744</c:v>
                </c:pt>
                <c:pt idx="20">
                  <c:v>45863450</c:v>
                </c:pt>
                <c:pt idx="21">
                  <c:v>52739892</c:v>
                </c:pt>
                <c:pt idx="22">
                  <c:v>103323781</c:v>
                </c:pt>
                <c:pt idx="23">
                  <c:v>152294765</c:v>
                </c:pt>
                <c:pt idx="24">
                  <c:v>34271820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948-45A3-88B3-2674FB840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60440719"/>
        <c:axId val="1760426319"/>
      </c:barChart>
      <c:catAx>
        <c:axId val="176044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ko-KR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0426319"/>
        <c:crosses val="autoZero"/>
        <c:auto val="1"/>
        <c:lblAlgn val="ctr"/>
        <c:lblOffset val="100"/>
        <c:noMultiLvlLbl val="0"/>
      </c:catAx>
      <c:valAx>
        <c:axId val="1760426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altLang="ko-KR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0440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n-US" altLang="ko-KR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[대중교통_이용건수_시각화_26.01.08.xlsx]지역별 누적 막대 그래프!피벗 테이블4</c:name>
    <c:fmtId val="3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택시 이용건수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'지역별 누적 막대 그래프'!$L$67:$L$68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그래프'!$K$69:$K$94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그래프'!$L$69:$L$94</c:f>
              <c:numCache>
                <c:formatCode>General</c:formatCode>
                <c:ptCount val="25"/>
                <c:pt idx="0">
                  <c:v>30147451</c:v>
                </c:pt>
                <c:pt idx="1">
                  <c:v>9550836</c:v>
                </c:pt>
                <c:pt idx="2">
                  <c:v>5932508</c:v>
                </c:pt>
                <c:pt idx="3">
                  <c:v>10994705</c:v>
                </c:pt>
                <c:pt idx="4">
                  <c:v>8799726</c:v>
                </c:pt>
                <c:pt idx="5">
                  <c:v>9237922</c:v>
                </c:pt>
                <c:pt idx="6">
                  <c:v>7113869</c:v>
                </c:pt>
                <c:pt idx="7">
                  <c:v>4782615</c:v>
                </c:pt>
                <c:pt idx="8">
                  <c:v>9665232</c:v>
                </c:pt>
                <c:pt idx="9">
                  <c:v>5521781</c:v>
                </c:pt>
                <c:pt idx="10">
                  <c:v>8932560</c:v>
                </c:pt>
                <c:pt idx="11">
                  <c:v>5482208</c:v>
                </c:pt>
                <c:pt idx="12">
                  <c:v>12193528</c:v>
                </c:pt>
                <c:pt idx="13">
                  <c:v>6519909</c:v>
                </c:pt>
                <c:pt idx="14">
                  <c:v>14220978</c:v>
                </c:pt>
                <c:pt idx="15">
                  <c:v>8064905</c:v>
                </c:pt>
                <c:pt idx="16">
                  <c:v>7039123</c:v>
                </c:pt>
                <c:pt idx="17">
                  <c:v>16186249</c:v>
                </c:pt>
                <c:pt idx="18">
                  <c:v>6635854</c:v>
                </c:pt>
                <c:pt idx="19">
                  <c:v>14133151</c:v>
                </c:pt>
                <c:pt idx="20">
                  <c:v>10790696</c:v>
                </c:pt>
                <c:pt idx="21">
                  <c:v>7579254</c:v>
                </c:pt>
                <c:pt idx="22">
                  <c:v>8167055</c:v>
                </c:pt>
                <c:pt idx="23">
                  <c:v>9727454</c:v>
                </c:pt>
                <c:pt idx="24">
                  <c:v>8154731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0E-4DCB-AFEA-D2D4B76DE6F5}"/>
            </c:ext>
          </c:extLst>
        </c:ser>
        <c:ser>
          <c:idx val="1"/>
          <c:order val="1"/>
          <c:tx>
            <c:strRef>
              <c:f>'지역별 누적 막대 그래프'!$M$67:$M$68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그래프'!$K$69:$K$94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그래프'!$M$69:$M$94</c:f>
              <c:numCache>
                <c:formatCode>General</c:formatCode>
                <c:ptCount val="25"/>
                <c:pt idx="0">
                  <c:v>29313393</c:v>
                </c:pt>
                <c:pt idx="1">
                  <c:v>9313432</c:v>
                </c:pt>
                <c:pt idx="2">
                  <c:v>5844333</c:v>
                </c:pt>
                <c:pt idx="3">
                  <c:v>11273287</c:v>
                </c:pt>
                <c:pt idx="4">
                  <c:v>8327226</c:v>
                </c:pt>
                <c:pt idx="5">
                  <c:v>9150945</c:v>
                </c:pt>
                <c:pt idx="6">
                  <c:v>6881163</c:v>
                </c:pt>
                <c:pt idx="7">
                  <c:v>4526171</c:v>
                </c:pt>
                <c:pt idx="8">
                  <c:v>9643000</c:v>
                </c:pt>
                <c:pt idx="9">
                  <c:v>5354651</c:v>
                </c:pt>
                <c:pt idx="10">
                  <c:v>8472038</c:v>
                </c:pt>
                <c:pt idx="11">
                  <c:v>5071279</c:v>
                </c:pt>
                <c:pt idx="12">
                  <c:v>12864715</c:v>
                </c:pt>
                <c:pt idx="13">
                  <c:v>6253061</c:v>
                </c:pt>
                <c:pt idx="14">
                  <c:v>13494848</c:v>
                </c:pt>
                <c:pt idx="15">
                  <c:v>7738640</c:v>
                </c:pt>
                <c:pt idx="16">
                  <c:v>6598855</c:v>
                </c:pt>
                <c:pt idx="17">
                  <c:v>16016973</c:v>
                </c:pt>
                <c:pt idx="18">
                  <c:v>6282670</c:v>
                </c:pt>
                <c:pt idx="19">
                  <c:v>13650593</c:v>
                </c:pt>
                <c:pt idx="20">
                  <c:v>10968319</c:v>
                </c:pt>
                <c:pt idx="21">
                  <c:v>7152353</c:v>
                </c:pt>
                <c:pt idx="22">
                  <c:v>8160903</c:v>
                </c:pt>
                <c:pt idx="23">
                  <c:v>9664890</c:v>
                </c:pt>
                <c:pt idx="24">
                  <c:v>7943028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0E-4DCB-AFEA-D2D4B76DE6F5}"/>
            </c:ext>
          </c:extLst>
        </c:ser>
        <c:ser>
          <c:idx val="2"/>
          <c:order val="2"/>
          <c:tx>
            <c:strRef>
              <c:f>'지역별 누적 막대 그래프'!$N$67:$N$68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그래프'!$K$69:$K$94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그래프'!$N$69:$N$94</c:f>
              <c:numCache>
                <c:formatCode>General</c:formatCode>
                <c:ptCount val="25"/>
                <c:pt idx="0">
                  <c:v>25466495</c:v>
                </c:pt>
                <c:pt idx="1">
                  <c:v>6731513</c:v>
                </c:pt>
                <c:pt idx="2">
                  <c:v>4154257</c:v>
                </c:pt>
                <c:pt idx="3">
                  <c:v>8856021</c:v>
                </c:pt>
                <c:pt idx="4">
                  <c:v>6588738</c:v>
                </c:pt>
                <c:pt idx="5">
                  <c:v>7212412</c:v>
                </c:pt>
                <c:pt idx="6">
                  <c:v>5506997</c:v>
                </c:pt>
                <c:pt idx="7">
                  <c:v>3562081</c:v>
                </c:pt>
                <c:pt idx="8">
                  <c:v>6749475</c:v>
                </c:pt>
                <c:pt idx="9">
                  <c:v>3556554</c:v>
                </c:pt>
                <c:pt idx="10">
                  <c:v>6352790</c:v>
                </c:pt>
                <c:pt idx="11">
                  <c:v>4043040</c:v>
                </c:pt>
                <c:pt idx="12">
                  <c:v>11326566</c:v>
                </c:pt>
                <c:pt idx="13">
                  <c:v>4980135</c:v>
                </c:pt>
                <c:pt idx="14">
                  <c:v>11497071</c:v>
                </c:pt>
                <c:pt idx="15">
                  <c:v>6300965</c:v>
                </c:pt>
                <c:pt idx="16">
                  <c:v>4934692</c:v>
                </c:pt>
                <c:pt idx="17">
                  <c:v>12546837</c:v>
                </c:pt>
                <c:pt idx="18">
                  <c:v>4721499</c:v>
                </c:pt>
                <c:pt idx="19">
                  <c:v>11399168</c:v>
                </c:pt>
                <c:pt idx="20">
                  <c:v>9529362</c:v>
                </c:pt>
                <c:pt idx="21">
                  <c:v>5213363</c:v>
                </c:pt>
                <c:pt idx="22">
                  <c:v>7137801</c:v>
                </c:pt>
                <c:pt idx="23">
                  <c:v>8987078</c:v>
                </c:pt>
                <c:pt idx="24">
                  <c:v>5868931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0E-4DCB-AFEA-D2D4B76DE6F5}"/>
            </c:ext>
          </c:extLst>
        </c:ser>
        <c:ser>
          <c:idx val="3"/>
          <c:order val="3"/>
          <c:tx>
            <c:strRef>
              <c:f>'지역별 누적 막대 그래프'!$O$67:$O$68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'지역별 누적 막대 그래프'!$K$69:$K$94</c:f>
              <c:strCache>
                <c:ptCount val="25"/>
                <c:pt idx="0">
                  <c:v>강남구</c:v>
                </c:pt>
                <c:pt idx="1">
                  <c:v>강동구</c:v>
                </c:pt>
                <c:pt idx="2">
                  <c:v>강북구</c:v>
                </c:pt>
                <c:pt idx="3">
                  <c:v>강서구</c:v>
                </c:pt>
                <c:pt idx="4">
                  <c:v>관악구</c:v>
                </c:pt>
                <c:pt idx="5">
                  <c:v>광진구</c:v>
                </c:pt>
                <c:pt idx="6">
                  <c:v>구로구</c:v>
                </c:pt>
                <c:pt idx="7">
                  <c:v>금천구</c:v>
                </c:pt>
                <c:pt idx="8">
                  <c:v>노원구</c:v>
                </c:pt>
                <c:pt idx="9">
                  <c:v>도봉구</c:v>
                </c:pt>
                <c:pt idx="10">
                  <c:v>동대문구</c:v>
                </c:pt>
                <c:pt idx="11">
                  <c:v>동작구</c:v>
                </c:pt>
                <c:pt idx="12">
                  <c:v>마포구</c:v>
                </c:pt>
                <c:pt idx="13">
                  <c:v>서대문구</c:v>
                </c:pt>
                <c:pt idx="14">
                  <c:v>서초구</c:v>
                </c:pt>
                <c:pt idx="15">
                  <c:v>성동구</c:v>
                </c:pt>
                <c:pt idx="16">
                  <c:v>성북구</c:v>
                </c:pt>
                <c:pt idx="17">
                  <c:v>송파구</c:v>
                </c:pt>
                <c:pt idx="18">
                  <c:v>양천구</c:v>
                </c:pt>
                <c:pt idx="19">
                  <c:v>영등포구</c:v>
                </c:pt>
                <c:pt idx="20">
                  <c:v>용산구</c:v>
                </c:pt>
                <c:pt idx="21">
                  <c:v>은평구</c:v>
                </c:pt>
                <c:pt idx="22">
                  <c:v>종로구</c:v>
                </c:pt>
                <c:pt idx="23">
                  <c:v>중구</c:v>
                </c:pt>
                <c:pt idx="24">
                  <c:v>중랑구</c:v>
                </c:pt>
              </c:strCache>
            </c:strRef>
          </c:cat>
          <c:val>
            <c:numRef>
              <c:f>'지역별 누적 막대 그래프'!$O$69:$O$94</c:f>
              <c:numCache>
                <c:formatCode>General</c:formatCode>
                <c:ptCount val="25"/>
                <c:pt idx="0">
                  <c:v>31707708</c:v>
                </c:pt>
                <c:pt idx="1">
                  <c:v>8331233</c:v>
                </c:pt>
                <c:pt idx="2">
                  <c:v>4815306</c:v>
                </c:pt>
                <c:pt idx="3">
                  <c:v>10865833</c:v>
                </c:pt>
                <c:pt idx="4">
                  <c:v>7776886</c:v>
                </c:pt>
                <c:pt idx="5">
                  <c:v>8504662</c:v>
                </c:pt>
                <c:pt idx="6">
                  <c:v>6560520</c:v>
                </c:pt>
                <c:pt idx="7">
                  <c:v>4182936</c:v>
                </c:pt>
                <c:pt idx="8">
                  <c:v>7875599</c:v>
                </c:pt>
                <c:pt idx="9">
                  <c:v>4317244</c:v>
                </c:pt>
                <c:pt idx="10">
                  <c:v>7418058</c:v>
                </c:pt>
                <c:pt idx="11">
                  <c:v>4909739</c:v>
                </c:pt>
                <c:pt idx="12">
                  <c:v>14349022</c:v>
                </c:pt>
                <c:pt idx="13">
                  <c:v>6050529</c:v>
                </c:pt>
                <c:pt idx="14">
                  <c:v>14043834</c:v>
                </c:pt>
                <c:pt idx="15">
                  <c:v>7780299</c:v>
                </c:pt>
                <c:pt idx="16">
                  <c:v>5892542</c:v>
                </c:pt>
                <c:pt idx="17">
                  <c:v>15463973</c:v>
                </c:pt>
                <c:pt idx="18">
                  <c:v>5705269</c:v>
                </c:pt>
                <c:pt idx="19">
                  <c:v>14080187</c:v>
                </c:pt>
                <c:pt idx="20">
                  <c:v>12496071</c:v>
                </c:pt>
                <c:pt idx="21">
                  <c:v>6459381</c:v>
                </c:pt>
                <c:pt idx="22">
                  <c:v>9021065</c:v>
                </c:pt>
                <c:pt idx="23">
                  <c:v>11892437</c:v>
                </c:pt>
                <c:pt idx="24">
                  <c:v>6564251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0E-4DCB-AFEA-D2D4B76DE6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60431599"/>
        <c:axId val="1760428239"/>
      </c:barChart>
      <c:catAx>
        <c:axId val="1760431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0428239"/>
        <c:crosses val="autoZero"/>
        <c:auto val="1"/>
        <c:lblAlgn val="ctr"/>
        <c:lblOffset val="100"/>
        <c:noMultiLvlLbl val="0"/>
      </c:catAx>
      <c:valAx>
        <c:axId val="1760428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0431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5C65-FC5A-45A0-87C0-2CBB08A7F85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6DC7D-2864-4FF0-A379-F99E34084E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4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연도별로 자동차는 증가하는 추세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976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이탈 예측 모델을 구축할 때 결제 방식에 따른 이탈률의 차이를 통계적으로 검증하기 위해</a:t>
            </a:r>
            <a:r>
              <a:rPr lang="en-US" altLang="ko-KR" sz="900"/>
              <a:t>, </a:t>
            </a:r>
            <a:r>
              <a:rPr lang="ko-KR" altLang="en-US" sz="900"/>
              <a:t>보통 </a:t>
            </a:r>
            <a:r>
              <a:rPr lang="ko-KR" altLang="en-US" sz="900" b="1"/>
              <a:t>카이제곱 검정</a:t>
            </a:r>
            <a:r>
              <a:rPr lang="en-US" altLang="ko-KR" sz="900"/>
              <a:t>(Chi-Squared Test)</a:t>
            </a:r>
            <a:r>
              <a:rPr lang="ko-KR" altLang="en-US" sz="900"/>
              <a:t>이나 </a:t>
            </a:r>
            <a:r>
              <a:rPr lang="en-US" altLang="ko-KR" sz="900" b="1"/>
              <a:t>t-</a:t>
            </a:r>
            <a:r>
              <a:rPr lang="ko-KR" altLang="en-US" sz="900" b="1"/>
              <a:t>검정</a:t>
            </a:r>
            <a:r>
              <a:rPr lang="en-US" altLang="ko-KR" sz="900"/>
              <a:t>(t-test)</a:t>
            </a:r>
            <a:r>
              <a:rPr lang="ko-KR" altLang="en-US" sz="900"/>
              <a:t>을 사용할 수 있습니다</a:t>
            </a:r>
            <a:r>
              <a:rPr lang="en-US" altLang="ko-KR" sz="900"/>
              <a:t>. </a:t>
            </a:r>
            <a:r>
              <a:rPr lang="ko-KR" altLang="en-US" sz="900"/>
              <a:t>이 두 방법은 각각 범주형 데이터와 연속형 데이터를 다루는 데 유용합니다</a:t>
            </a:r>
            <a:r>
              <a:rPr lang="en-US" altLang="ko-KR" sz="900"/>
              <a:t>.</a:t>
            </a:r>
          </a:p>
          <a:p>
            <a:r>
              <a:rPr lang="en-US" altLang="ko-KR" sz="900" b="1"/>
              <a:t>1. </a:t>
            </a:r>
            <a:r>
              <a:rPr lang="ko-KR" altLang="en-US" sz="900" b="1"/>
              <a:t>카이제곱 검정 </a:t>
            </a:r>
            <a:r>
              <a:rPr lang="en-US" altLang="ko-KR" sz="900" b="1"/>
              <a:t>(Chi-Squared Test)</a:t>
            </a:r>
          </a:p>
          <a:p>
            <a:r>
              <a:rPr lang="ko-KR" altLang="en-US" sz="900"/>
              <a:t>결제 방식</a:t>
            </a:r>
            <a:r>
              <a:rPr lang="en-US" altLang="ko-KR" sz="900"/>
              <a:t>(</a:t>
            </a:r>
            <a:r>
              <a:rPr lang="ko-KR" altLang="en-US" sz="900"/>
              <a:t>범주형</a:t>
            </a:r>
            <a:r>
              <a:rPr lang="en-US" altLang="ko-KR" sz="900"/>
              <a:t>)</a:t>
            </a:r>
            <a:r>
              <a:rPr lang="ko-KR" altLang="en-US" sz="900"/>
              <a:t>과 이탈 여부</a:t>
            </a:r>
            <a:r>
              <a:rPr lang="en-US" altLang="ko-KR" sz="900"/>
              <a:t>(</a:t>
            </a:r>
            <a:r>
              <a:rPr lang="ko-KR" altLang="en-US" sz="900"/>
              <a:t>이탈</a:t>
            </a:r>
            <a:r>
              <a:rPr lang="en-US" altLang="ko-KR" sz="900"/>
              <a:t>/</a:t>
            </a:r>
            <a:r>
              <a:rPr lang="ko-KR" altLang="en-US" sz="900"/>
              <a:t>비이탈</a:t>
            </a:r>
            <a:r>
              <a:rPr lang="en-US" altLang="ko-KR" sz="900"/>
              <a:t>) </a:t>
            </a:r>
            <a:r>
              <a:rPr lang="ko-KR" altLang="en-US" sz="900"/>
              <a:t>간의 관계를 검증할 때 유용합니다</a:t>
            </a:r>
            <a:r>
              <a:rPr lang="en-US" altLang="ko-KR" sz="900"/>
              <a:t>.</a:t>
            </a:r>
          </a:p>
          <a:p>
            <a:endParaRPr lang="en-US" altLang="ko-KR"/>
          </a:p>
          <a:p>
            <a:r>
              <a:rPr lang="en-US" altLang="ko-KR"/>
              <a:t>import pandas as pd</a:t>
            </a:r>
          </a:p>
          <a:p>
            <a:r>
              <a:rPr lang="en-US" altLang="ko-KR"/>
              <a:t>from scipy.stats import chi2_contingency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데이터셋 불러오기</a:t>
            </a:r>
          </a:p>
          <a:p>
            <a:r>
              <a:rPr lang="en-US" altLang="ko-KR"/>
              <a:t>data = pd.read_csv('customer_data.csv')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결제 방식과 이탈 여부에 대한 교차표 생성</a:t>
            </a:r>
          </a:p>
          <a:p>
            <a:r>
              <a:rPr lang="en-US" altLang="ko-KR"/>
              <a:t>contingency_table = pd.crosstab(data['payment_method'], data['churn'])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카이제곱 검정 수행</a:t>
            </a:r>
          </a:p>
          <a:p>
            <a:r>
              <a:rPr lang="en-US" altLang="ko-KR"/>
              <a:t>chi2, p, dof, expected = chi2_contingency(contingency_table)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결과 출력</a:t>
            </a:r>
          </a:p>
          <a:p>
            <a:r>
              <a:rPr lang="en-US" altLang="ko-KR"/>
              <a:t>print(f"Chi-squared: {chi2}, p-value: {p}")</a:t>
            </a:r>
          </a:p>
          <a:p>
            <a:r>
              <a:rPr lang="en-US" altLang="ko-KR"/>
              <a:t>if p &lt; 0.05:</a:t>
            </a:r>
          </a:p>
          <a:p>
            <a:r>
              <a:rPr lang="en-US" altLang="ko-KR"/>
              <a:t>    print("</a:t>
            </a:r>
            <a:r>
              <a:rPr lang="ko-KR" altLang="en-US"/>
              <a:t>결제 방식에 따른 이탈률 차이가 통계적으로 유의미합니다</a:t>
            </a:r>
            <a:r>
              <a:rPr lang="en-US" altLang="ko-KR"/>
              <a:t>.")</a:t>
            </a:r>
          </a:p>
          <a:p>
            <a:r>
              <a:rPr lang="en-US" altLang="ko-KR"/>
              <a:t>else:</a:t>
            </a:r>
          </a:p>
          <a:p>
            <a:r>
              <a:rPr lang="en-US" altLang="ko-KR"/>
              <a:t>    print("</a:t>
            </a:r>
            <a:r>
              <a:rPr lang="ko-KR" altLang="en-US"/>
              <a:t>결제 방식에 따른 이탈률 차이가 통계적으로 유의미하지 않습니다</a:t>
            </a:r>
            <a:r>
              <a:rPr lang="en-US" altLang="ko-KR"/>
              <a:t>.")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/>
              <a:t>2. t-</a:t>
            </a:r>
            <a:r>
              <a:rPr lang="ko-KR" altLang="en-US"/>
              <a:t>검정 </a:t>
            </a:r>
            <a:r>
              <a:rPr lang="en-US" altLang="ko-KR"/>
              <a:t>(t-test)</a:t>
            </a:r>
          </a:p>
          <a:p>
            <a:r>
              <a:rPr lang="ko-KR" altLang="en-US"/>
              <a:t>만약 결제 방식이 연속형 변수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결제 금액</a:t>
            </a:r>
            <a:r>
              <a:rPr lang="en-US" altLang="ko-KR"/>
              <a:t>)</a:t>
            </a:r>
            <a:r>
              <a:rPr lang="ko-KR" altLang="en-US"/>
              <a:t>로 주어졌다면 </a:t>
            </a:r>
            <a:r>
              <a:rPr lang="en-US" altLang="ko-KR"/>
              <a:t>t-</a:t>
            </a:r>
            <a:r>
              <a:rPr lang="ko-KR" altLang="en-US"/>
              <a:t>검정을 사용할 수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from scipy.stats import ttest_ind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결제 방식에 따른 이탈 고객과 비이탈 고객의 데이터 분리</a:t>
            </a:r>
          </a:p>
          <a:p>
            <a:r>
              <a:rPr lang="en-US" altLang="ko-KR"/>
              <a:t>churned = data[data['churn'] == 1]['payment_amount']</a:t>
            </a:r>
          </a:p>
          <a:p>
            <a:r>
              <a:rPr lang="en-US" altLang="ko-KR"/>
              <a:t>not_churned = data[data['churn'] == 0]['payment_amount']</a:t>
            </a:r>
          </a:p>
          <a:p>
            <a:endParaRPr lang="en-US" altLang="ko-KR"/>
          </a:p>
          <a:p>
            <a:r>
              <a:rPr lang="en-US" altLang="ko-KR"/>
              <a:t># t-</a:t>
            </a:r>
            <a:r>
              <a:rPr lang="ko-KR" altLang="en-US"/>
              <a:t>검정 수행</a:t>
            </a:r>
          </a:p>
          <a:p>
            <a:r>
              <a:rPr lang="en-US" altLang="ko-KR"/>
              <a:t>t_stat, p_value = ttest_ind(churned, not_churned)</a:t>
            </a:r>
          </a:p>
          <a:p>
            <a:endParaRPr lang="en-US" altLang="ko-KR"/>
          </a:p>
          <a:p>
            <a:r>
              <a:rPr lang="en-US" altLang="ko-KR"/>
              <a:t># </a:t>
            </a:r>
            <a:r>
              <a:rPr lang="ko-KR" altLang="en-US"/>
              <a:t>결과 출력</a:t>
            </a:r>
          </a:p>
          <a:p>
            <a:r>
              <a:rPr lang="en-US" altLang="ko-KR"/>
              <a:t>print(f"t-statistic: {t_stat}, p-value: {p_value}")</a:t>
            </a:r>
          </a:p>
          <a:p>
            <a:r>
              <a:rPr lang="en-US" altLang="ko-KR"/>
              <a:t>if p_value &lt; 0.05:</a:t>
            </a:r>
          </a:p>
          <a:p>
            <a:r>
              <a:rPr lang="en-US" altLang="ko-KR"/>
              <a:t>    print("</a:t>
            </a:r>
            <a:r>
              <a:rPr lang="ko-KR" altLang="en-US"/>
              <a:t>결제 방식에 따른 이탈률 차이가 통계적으로 유의미합니다</a:t>
            </a:r>
            <a:r>
              <a:rPr lang="en-US" altLang="ko-KR"/>
              <a:t>.")</a:t>
            </a:r>
          </a:p>
          <a:p>
            <a:r>
              <a:rPr lang="en-US" altLang="ko-KR"/>
              <a:t>else:</a:t>
            </a:r>
          </a:p>
          <a:p>
            <a:r>
              <a:rPr lang="en-US" altLang="ko-KR"/>
              <a:t>    print("</a:t>
            </a:r>
            <a:r>
              <a:rPr lang="ko-KR" altLang="en-US"/>
              <a:t>결제 방식에 따른 이탈률 차이가 통계적으로 유의미하지 않습니다</a:t>
            </a:r>
            <a:r>
              <a:rPr lang="en-US" altLang="ko-KR"/>
              <a:t>.")</a:t>
            </a:r>
          </a:p>
          <a:p>
            <a:endParaRPr lang="en-US" altLang="ko-KR"/>
          </a:p>
          <a:p>
            <a:r>
              <a:rPr lang="ko-KR" altLang="en-US" b="1"/>
              <a:t>결론</a:t>
            </a:r>
          </a:p>
          <a:p>
            <a:r>
              <a:rPr lang="ko-KR" altLang="en-US" b="1"/>
              <a:t>카이제곱 검정</a:t>
            </a:r>
            <a:r>
              <a:rPr lang="ko-KR" altLang="en-US"/>
              <a:t>은 범주형 변수 간의 관계를 분석하고</a:t>
            </a:r>
            <a:r>
              <a:rPr lang="en-US" altLang="ko-KR"/>
              <a:t>,</a:t>
            </a:r>
          </a:p>
          <a:p>
            <a:r>
              <a:rPr lang="en-US" altLang="ko-KR" b="1"/>
              <a:t>t-</a:t>
            </a:r>
            <a:r>
              <a:rPr lang="ko-KR" altLang="en-US" b="1"/>
              <a:t>검정</a:t>
            </a:r>
            <a:r>
              <a:rPr lang="ko-KR" altLang="en-US"/>
              <a:t>은 연속형 변수 간의 평균 차이를 검증합니다</a:t>
            </a:r>
            <a:r>
              <a:rPr lang="en-US" altLang="ko-KR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465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200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다른지역들에</a:t>
            </a:r>
            <a:r>
              <a:rPr lang="ko-KR" altLang="en-US" dirty="0"/>
              <a:t> 비해 강남구의 택시 비율이 높았고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다른지역들에</a:t>
            </a:r>
            <a:r>
              <a:rPr lang="ko-KR" altLang="en-US" dirty="0"/>
              <a:t> 비해 은평구의 버스 비율이 높았다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은평구는 지하철 인프라가 부족했다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52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58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04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3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42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4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51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90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52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97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78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29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96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079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71768-34A2-DDAA-D9DB-966EFD507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A2A584-43E5-9312-6C9A-0DB805ED2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0BB962-2D5A-66AF-9A01-0C1900D6B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12337D-04B7-6940-C4E0-E5E49235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D25972-39A7-E418-2DD0-57C51FB6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59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6F4A0-1821-BD31-0EEB-58FF9A78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01E36C-AB3E-290C-85BD-75FA8668E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65520C-A0C5-DE6B-5719-DF2EAE0B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60957-877B-4388-9478-6026830C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680041-8F3D-A191-28B8-74EF39D2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01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F86E0-0039-CCB8-3475-49C4EBC1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8D8E7C-A215-EB8C-FB2F-33FC861CB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9FEB84-D0C9-0533-CA55-8077DCDC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9ADD6-FAAD-F2B2-2CE9-B6C44673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FF356B-A076-E4A0-893B-25321846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351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2D548-B425-4B1F-7FE2-439E5F47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40FE69-573E-18C5-73D4-3AD1577B6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9F4921-4E9F-2A4E-3206-00A16321B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914FD6-4807-6D9E-CF8B-DA37BD12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103550-E587-0461-8310-21CDC6F9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3D3E14-A95E-93BF-430D-61D1074F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788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D4AD2-7DE2-E86F-4B07-D759AD9E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5C7CB8-20FF-5CEE-CBDE-CC5674D87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D2BF89-657B-7D17-2DF6-9214CECC4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175CC9-B723-3112-B75E-68309CE46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1E371F-3D52-F7D8-B85F-FC799EF55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E07BF3-4464-FB37-6CDE-6249A01E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AC6790-47CF-2628-365C-9EE63FF5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B6BB11-0A6D-1CF1-C0A5-F71010BA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759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AB945-09F0-636A-7739-45C854D2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38C93D-840E-AD4E-48B7-1931E938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1774E7-92DE-37FB-6B2E-5430E593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28DBB8-A003-A877-2E22-C4D38109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9886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A8DFB9-A9A0-05B5-EA4E-AF2C288B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E62ADA-FF0B-0CE2-E369-6E6A586F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4BAFBB-07C5-0315-300B-FD6E3A0B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2535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004FC-C88A-B922-4B1A-E0AA46A30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96FBF3-6ECC-CD8A-23E5-9E516D208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6F1354-EA2C-444A-870F-7BC1AA7E0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1AEA33-0285-D09D-7B0C-4BFD1239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BBE5D1-7152-A9B9-46F8-FD23D806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F500F3-DF0E-EFAF-F55D-E101117D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589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F6317-9ECB-A0A2-EBD7-A5D051BB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7B152B-39AF-519C-6320-8D3746D57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1AA550-5870-240C-3516-BD6BC4F9A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FD855E-2FF1-3E0B-8AE7-F6D08910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604D6D-46EC-C152-D95B-3234220D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E0F6D3-9444-7CA4-D65B-10386540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57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91304-A053-26E9-D5F9-C8003287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AEAC54-E8CC-0C04-57E7-458EE7B9A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2650C6-5089-8487-E661-6CE8A504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A5C45-3885-BD65-83D0-8650A344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75A496-9873-34DE-1F58-8648796E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7954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BAA625-B403-625B-5559-F0B16D67C0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89D855-01D1-A923-A9D9-86F69255F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FCF79-220B-0960-2C3B-2888A38A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413CA-992B-DCC2-6F50-A64AF97E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BBDE1C-299D-7884-127E-E96E93B5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9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D2DB5B9-FE18-6BE8-D06B-D46B1F9A5E73}"/>
              </a:ext>
            </a:extLst>
          </p:cNvPr>
          <p:cNvCxnSpPr>
            <a:cxnSpLocks/>
          </p:cNvCxnSpPr>
          <p:nvPr userDrawn="1"/>
        </p:nvCxnSpPr>
        <p:spPr>
          <a:xfrm>
            <a:off x="485775" y="809625"/>
            <a:ext cx="112014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414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3279F5-43C9-C0B9-811D-5A24B434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9B689E-F6E6-5A50-4512-E5B67D345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34E5E3-0CEE-F119-939B-6F8CB2ECB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15227-B50A-4246-97B2-347A01CD05B7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701040-AB08-C246-ADCA-73C5028C3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FF3955-06F8-CABD-EEC9-6F5BEBCF9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270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23">
            <a:extLst>
              <a:ext uri="{FF2B5EF4-FFF2-40B4-BE49-F238E27FC236}">
                <a16:creationId xmlns:a16="http://schemas.microsoft.com/office/drawing/2014/main" id="{F9A14E2C-24E3-D6AF-765C-4AA17856D700}"/>
              </a:ext>
            </a:extLst>
          </p:cNvPr>
          <p:cNvGrpSpPr/>
          <p:nvPr/>
        </p:nvGrpSpPr>
        <p:grpSpPr>
          <a:xfrm>
            <a:off x="612095" y="0"/>
            <a:ext cx="10082768" cy="6858000"/>
            <a:chOff x="1134576" y="0"/>
            <a:chExt cx="10082768" cy="6858000"/>
          </a:xfrm>
          <a:solidFill>
            <a:schemeClr val="bg1">
              <a:lumMod val="85000"/>
            </a:schemeClr>
          </a:solidFill>
        </p:grpSpPr>
        <p:sp>
          <p:nvSpPr>
            <p:cNvPr id="3" name="Freeform 25">
              <a:extLst>
                <a:ext uri="{FF2B5EF4-FFF2-40B4-BE49-F238E27FC236}">
                  <a16:creationId xmlns:a16="http://schemas.microsoft.com/office/drawing/2014/main" id="{E413BCD0-E389-104D-B8BF-F4826CB8D9E1}"/>
                </a:ext>
              </a:extLst>
            </p:cNvPr>
            <p:cNvSpPr/>
            <p:nvPr/>
          </p:nvSpPr>
          <p:spPr>
            <a:xfrm>
              <a:off x="2415199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9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4 w 8802145"/>
                <a:gd name="connsiteY18" fmla="*/ 2947543 h 6858000"/>
                <a:gd name="connsiteX19" fmla="*/ 8130346 w 8802145"/>
                <a:gd name="connsiteY19" fmla="*/ 1996504 h 6858000"/>
                <a:gd name="connsiteX20" fmla="*/ 8799849 w 8802145"/>
                <a:gd name="connsiteY20" fmla="*/ 959866 h 6858000"/>
                <a:gd name="connsiteX21" fmla="*/ 8537887 w 8802145"/>
                <a:gd name="connsiteY21" fmla="*/ 243967 h 6858000"/>
                <a:gd name="connsiteX22" fmla="*/ 8294517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9" y="0"/>
                  </a:lnTo>
                  <a:cubicBezTo>
                    <a:pt x="8373842" y="83503"/>
                    <a:pt x="8458308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9" y="1288733"/>
                    <a:pt x="8539029" y="1634554"/>
                    <a:pt x="8122160" y="1986852"/>
                  </a:cubicBezTo>
                  <a:cubicBezTo>
                    <a:pt x="7762025" y="2291271"/>
                    <a:pt x="7245142" y="2610676"/>
                    <a:pt x="6585856" y="2936177"/>
                  </a:cubicBezTo>
                  <a:cubicBezTo>
                    <a:pt x="5373262" y="3534918"/>
                    <a:pt x="3913490" y="4048125"/>
                    <a:pt x="2740558" y="4460494"/>
                  </a:cubicBezTo>
                  <a:cubicBezTo>
                    <a:pt x="2287708" y="4619689"/>
                    <a:pt x="1896603" y="4757230"/>
                    <a:pt x="1588885" y="4875657"/>
                  </a:cubicBezTo>
                  <a:cubicBezTo>
                    <a:pt x="1091612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7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2" y="3546602"/>
                    <a:pt x="6591504" y="2947543"/>
                  </a:cubicBezTo>
                  <a:cubicBezTo>
                    <a:pt x="7251679" y="2621598"/>
                    <a:pt x="7769449" y="2301621"/>
                    <a:pt x="8130346" y="1996504"/>
                  </a:cubicBezTo>
                  <a:cubicBezTo>
                    <a:pt x="8549880" y="1641920"/>
                    <a:pt x="8775163" y="1293114"/>
                    <a:pt x="8799849" y="959866"/>
                  </a:cubicBezTo>
                  <a:cubicBezTo>
                    <a:pt x="8817872" y="716598"/>
                    <a:pt x="8729726" y="475742"/>
                    <a:pt x="8537887" y="243967"/>
                  </a:cubicBezTo>
                  <a:cubicBezTo>
                    <a:pt x="8470238" y="162243"/>
                    <a:pt x="8388945" y="80836"/>
                    <a:pt x="8294517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26">
              <a:extLst>
                <a:ext uri="{FF2B5EF4-FFF2-40B4-BE49-F238E27FC236}">
                  <a16:creationId xmlns:a16="http://schemas.microsoft.com/office/drawing/2014/main" id="{4F211E42-62FC-AFEE-4BE6-C18BDB6A998C}"/>
                </a:ext>
              </a:extLst>
            </p:cNvPr>
            <p:cNvSpPr/>
            <p:nvPr/>
          </p:nvSpPr>
          <p:spPr>
            <a:xfrm>
              <a:off x="1134576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8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4 w 8802145"/>
                <a:gd name="connsiteY18" fmla="*/ 2947543 h 6858000"/>
                <a:gd name="connsiteX19" fmla="*/ 8130347 w 8802145"/>
                <a:gd name="connsiteY19" fmla="*/ 1996504 h 6858000"/>
                <a:gd name="connsiteX20" fmla="*/ 8799850 w 8802145"/>
                <a:gd name="connsiteY20" fmla="*/ 959866 h 6858000"/>
                <a:gd name="connsiteX21" fmla="*/ 8537886 w 8802145"/>
                <a:gd name="connsiteY21" fmla="*/ 243967 h 6858000"/>
                <a:gd name="connsiteX22" fmla="*/ 8294518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8" y="0"/>
                  </a:lnTo>
                  <a:cubicBezTo>
                    <a:pt x="8373843" y="83503"/>
                    <a:pt x="8458307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8" y="1288733"/>
                    <a:pt x="8539029" y="1634554"/>
                    <a:pt x="8122160" y="1986852"/>
                  </a:cubicBezTo>
                  <a:cubicBezTo>
                    <a:pt x="7762024" y="2291271"/>
                    <a:pt x="7245143" y="2610676"/>
                    <a:pt x="6585856" y="2936177"/>
                  </a:cubicBezTo>
                  <a:cubicBezTo>
                    <a:pt x="5373262" y="3534918"/>
                    <a:pt x="3913490" y="4048125"/>
                    <a:pt x="2740558" y="4460494"/>
                  </a:cubicBezTo>
                  <a:cubicBezTo>
                    <a:pt x="2287707" y="4619689"/>
                    <a:pt x="1896603" y="4757166"/>
                    <a:pt x="1588885" y="4875657"/>
                  </a:cubicBezTo>
                  <a:cubicBezTo>
                    <a:pt x="1091613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6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1" y="3546602"/>
                    <a:pt x="6591504" y="2947543"/>
                  </a:cubicBezTo>
                  <a:cubicBezTo>
                    <a:pt x="7251678" y="2621598"/>
                    <a:pt x="7769449" y="2301621"/>
                    <a:pt x="8130347" y="1996504"/>
                  </a:cubicBezTo>
                  <a:cubicBezTo>
                    <a:pt x="8549880" y="1641856"/>
                    <a:pt x="8775164" y="1293114"/>
                    <a:pt x="8799850" y="959866"/>
                  </a:cubicBezTo>
                  <a:cubicBezTo>
                    <a:pt x="8817872" y="716598"/>
                    <a:pt x="8729726" y="475742"/>
                    <a:pt x="8537886" y="243967"/>
                  </a:cubicBezTo>
                  <a:cubicBezTo>
                    <a:pt x="8470238" y="162243"/>
                    <a:pt x="8388946" y="80836"/>
                    <a:pt x="8294518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27">
              <a:extLst>
                <a:ext uri="{FF2B5EF4-FFF2-40B4-BE49-F238E27FC236}">
                  <a16:creationId xmlns:a16="http://schemas.microsoft.com/office/drawing/2014/main" id="{A385CB35-CD95-052C-A0E0-9FA337494A62}"/>
                </a:ext>
              </a:extLst>
            </p:cNvPr>
            <p:cNvSpPr/>
            <p:nvPr/>
          </p:nvSpPr>
          <p:spPr>
            <a:xfrm>
              <a:off x="1561471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9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3 w 8802145"/>
                <a:gd name="connsiteY18" fmla="*/ 2947543 h 6858000"/>
                <a:gd name="connsiteX19" fmla="*/ 8130347 w 8802145"/>
                <a:gd name="connsiteY19" fmla="*/ 1996504 h 6858000"/>
                <a:gd name="connsiteX20" fmla="*/ 8799850 w 8802145"/>
                <a:gd name="connsiteY20" fmla="*/ 959866 h 6858000"/>
                <a:gd name="connsiteX21" fmla="*/ 8537887 w 8802145"/>
                <a:gd name="connsiteY21" fmla="*/ 243967 h 6858000"/>
                <a:gd name="connsiteX22" fmla="*/ 8294518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9" y="0"/>
                  </a:lnTo>
                  <a:cubicBezTo>
                    <a:pt x="8373843" y="83503"/>
                    <a:pt x="8458307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9" y="1288733"/>
                    <a:pt x="8539028" y="1634554"/>
                    <a:pt x="8122160" y="1986852"/>
                  </a:cubicBezTo>
                  <a:cubicBezTo>
                    <a:pt x="7762024" y="2291271"/>
                    <a:pt x="7245142" y="2610676"/>
                    <a:pt x="6585856" y="2936177"/>
                  </a:cubicBezTo>
                  <a:cubicBezTo>
                    <a:pt x="5373261" y="3534918"/>
                    <a:pt x="3913490" y="4048125"/>
                    <a:pt x="2740558" y="4460494"/>
                  </a:cubicBezTo>
                  <a:cubicBezTo>
                    <a:pt x="2287707" y="4619689"/>
                    <a:pt x="1896603" y="4757166"/>
                    <a:pt x="1588885" y="4875657"/>
                  </a:cubicBezTo>
                  <a:cubicBezTo>
                    <a:pt x="1091613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6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1" y="3546602"/>
                    <a:pt x="6591503" y="2947543"/>
                  </a:cubicBezTo>
                  <a:cubicBezTo>
                    <a:pt x="7251678" y="2621598"/>
                    <a:pt x="7769449" y="2301621"/>
                    <a:pt x="8130347" y="1996504"/>
                  </a:cubicBezTo>
                  <a:cubicBezTo>
                    <a:pt x="8549881" y="1641920"/>
                    <a:pt x="8775164" y="1293114"/>
                    <a:pt x="8799850" y="959866"/>
                  </a:cubicBezTo>
                  <a:cubicBezTo>
                    <a:pt x="8817872" y="716598"/>
                    <a:pt x="8729726" y="475742"/>
                    <a:pt x="8537887" y="243967"/>
                  </a:cubicBezTo>
                  <a:cubicBezTo>
                    <a:pt x="8470238" y="162243"/>
                    <a:pt x="8388946" y="80836"/>
                    <a:pt x="8294518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28">
              <a:extLst>
                <a:ext uri="{FF2B5EF4-FFF2-40B4-BE49-F238E27FC236}">
                  <a16:creationId xmlns:a16="http://schemas.microsoft.com/office/drawing/2014/main" id="{BD80270E-39A3-E0B3-2ACF-65EF38C08291}"/>
                </a:ext>
              </a:extLst>
            </p:cNvPr>
            <p:cNvSpPr/>
            <p:nvPr/>
          </p:nvSpPr>
          <p:spPr>
            <a:xfrm>
              <a:off x="1988367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9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4 w 8802145"/>
                <a:gd name="connsiteY18" fmla="*/ 2947543 h 6858000"/>
                <a:gd name="connsiteX19" fmla="*/ 8130346 w 8802145"/>
                <a:gd name="connsiteY19" fmla="*/ 1996504 h 6858000"/>
                <a:gd name="connsiteX20" fmla="*/ 8799849 w 8802145"/>
                <a:gd name="connsiteY20" fmla="*/ 959866 h 6858000"/>
                <a:gd name="connsiteX21" fmla="*/ 8537887 w 8802145"/>
                <a:gd name="connsiteY21" fmla="*/ 243967 h 6858000"/>
                <a:gd name="connsiteX22" fmla="*/ 8294517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9" y="0"/>
                  </a:lnTo>
                  <a:cubicBezTo>
                    <a:pt x="8373842" y="83503"/>
                    <a:pt x="8458308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9" y="1288733"/>
                    <a:pt x="8539029" y="1634554"/>
                    <a:pt x="8122160" y="1986852"/>
                  </a:cubicBezTo>
                  <a:cubicBezTo>
                    <a:pt x="7762024" y="2291271"/>
                    <a:pt x="7245142" y="2610676"/>
                    <a:pt x="6585856" y="2936177"/>
                  </a:cubicBezTo>
                  <a:cubicBezTo>
                    <a:pt x="5373261" y="3534918"/>
                    <a:pt x="3913490" y="4048125"/>
                    <a:pt x="2740558" y="4460494"/>
                  </a:cubicBezTo>
                  <a:cubicBezTo>
                    <a:pt x="2287707" y="4619689"/>
                    <a:pt x="1896603" y="4757166"/>
                    <a:pt x="1588885" y="4875657"/>
                  </a:cubicBezTo>
                  <a:cubicBezTo>
                    <a:pt x="1091613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6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1" y="3546602"/>
                    <a:pt x="6591504" y="2947543"/>
                  </a:cubicBezTo>
                  <a:cubicBezTo>
                    <a:pt x="7251679" y="2621598"/>
                    <a:pt x="7769449" y="2301621"/>
                    <a:pt x="8130346" y="1996504"/>
                  </a:cubicBezTo>
                  <a:cubicBezTo>
                    <a:pt x="8549881" y="1641920"/>
                    <a:pt x="8775164" y="1293114"/>
                    <a:pt x="8799849" y="959866"/>
                  </a:cubicBezTo>
                  <a:cubicBezTo>
                    <a:pt x="8817872" y="716598"/>
                    <a:pt x="8729726" y="475742"/>
                    <a:pt x="8537887" y="243967"/>
                  </a:cubicBezTo>
                  <a:cubicBezTo>
                    <a:pt x="8470238" y="162243"/>
                    <a:pt x="8388945" y="80836"/>
                    <a:pt x="8294517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5B09D7A-C1F7-5CB3-E676-6FB4353E3D21}"/>
              </a:ext>
            </a:extLst>
          </p:cNvPr>
          <p:cNvSpPr/>
          <p:nvPr/>
        </p:nvSpPr>
        <p:spPr>
          <a:xfrm>
            <a:off x="10441499" y="4284009"/>
            <a:ext cx="830235" cy="426649"/>
          </a:xfrm>
          <a:custGeom>
            <a:avLst/>
            <a:gdLst>
              <a:gd name="connsiteX0" fmla="*/ 1440 w 1028700"/>
              <a:gd name="connsiteY0" fmla="*/ 0 h 528638"/>
              <a:gd name="connsiteX1" fmla="*/ 1027260 w 1028700"/>
              <a:gd name="connsiteY1" fmla="*/ 0 h 528638"/>
              <a:gd name="connsiteX2" fmla="*/ 1028700 w 1028700"/>
              <a:gd name="connsiteY2" fmla="*/ 14288 h 528638"/>
              <a:gd name="connsiteX3" fmla="*/ 514350 w 1028700"/>
              <a:gd name="connsiteY3" fmla="*/ 528638 h 528638"/>
              <a:gd name="connsiteX4" fmla="*/ 0 w 1028700"/>
              <a:gd name="connsiteY4" fmla="*/ 14288 h 52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700" h="528638">
                <a:moveTo>
                  <a:pt x="1440" y="0"/>
                </a:moveTo>
                <a:lnTo>
                  <a:pt x="1027260" y="0"/>
                </a:lnTo>
                <a:lnTo>
                  <a:pt x="1028700" y="14288"/>
                </a:lnTo>
                <a:cubicBezTo>
                  <a:pt x="1028700" y="298356"/>
                  <a:pt x="798418" y="528638"/>
                  <a:pt x="514350" y="528638"/>
                </a:cubicBezTo>
                <a:cubicBezTo>
                  <a:pt x="230282" y="528638"/>
                  <a:pt x="0" y="298356"/>
                  <a:pt x="0" y="14288"/>
                </a:cubicBezTo>
                <a:close/>
              </a:path>
            </a:pathLst>
          </a:custGeom>
          <a:solidFill>
            <a:srgbClr val="FE500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E5863280-4F82-6913-FE1A-3F10AF65B031}"/>
              </a:ext>
            </a:extLst>
          </p:cNvPr>
          <p:cNvSpPr/>
          <p:nvPr/>
        </p:nvSpPr>
        <p:spPr>
          <a:xfrm>
            <a:off x="10606234" y="1764956"/>
            <a:ext cx="205567" cy="205567"/>
          </a:xfrm>
          <a:prstGeom prst="ellipse">
            <a:avLst/>
          </a:prstGeom>
          <a:solidFill>
            <a:srgbClr val="FEC10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97844AEC-039F-A21D-4FD6-DFDA781C4338}"/>
              </a:ext>
            </a:extLst>
          </p:cNvPr>
          <p:cNvSpPr/>
          <p:nvPr/>
        </p:nvSpPr>
        <p:spPr>
          <a:xfrm rot="5400000">
            <a:off x="4598049" y="5702410"/>
            <a:ext cx="830235" cy="426649"/>
          </a:xfrm>
          <a:custGeom>
            <a:avLst/>
            <a:gdLst>
              <a:gd name="connsiteX0" fmla="*/ 1440 w 1028700"/>
              <a:gd name="connsiteY0" fmla="*/ 0 h 528638"/>
              <a:gd name="connsiteX1" fmla="*/ 1027260 w 1028700"/>
              <a:gd name="connsiteY1" fmla="*/ 0 h 528638"/>
              <a:gd name="connsiteX2" fmla="*/ 1028700 w 1028700"/>
              <a:gd name="connsiteY2" fmla="*/ 14288 h 528638"/>
              <a:gd name="connsiteX3" fmla="*/ 514350 w 1028700"/>
              <a:gd name="connsiteY3" fmla="*/ 528638 h 528638"/>
              <a:gd name="connsiteX4" fmla="*/ 0 w 1028700"/>
              <a:gd name="connsiteY4" fmla="*/ 14288 h 52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700" h="528638">
                <a:moveTo>
                  <a:pt x="1440" y="0"/>
                </a:moveTo>
                <a:lnTo>
                  <a:pt x="1027260" y="0"/>
                </a:lnTo>
                <a:lnTo>
                  <a:pt x="1028700" y="14288"/>
                </a:lnTo>
                <a:cubicBezTo>
                  <a:pt x="1028700" y="298356"/>
                  <a:pt x="798418" y="528638"/>
                  <a:pt x="514350" y="528638"/>
                </a:cubicBezTo>
                <a:cubicBezTo>
                  <a:pt x="230282" y="528638"/>
                  <a:pt x="0" y="298356"/>
                  <a:pt x="0" y="14288"/>
                </a:cubicBezTo>
                <a:close/>
              </a:path>
            </a:pathLst>
          </a:custGeom>
          <a:solidFill>
            <a:srgbClr val="593AC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19" name="Oval 14">
            <a:extLst>
              <a:ext uri="{FF2B5EF4-FFF2-40B4-BE49-F238E27FC236}">
                <a16:creationId xmlns:a16="http://schemas.microsoft.com/office/drawing/2014/main" id="{52546999-44EA-3899-E452-50520C3669CA}"/>
              </a:ext>
            </a:extLst>
          </p:cNvPr>
          <p:cNvSpPr/>
          <p:nvPr/>
        </p:nvSpPr>
        <p:spPr>
          <a:xfrm>
            <a:off x="2091951" y="4219308"/>
            <a:ext cx="205567" cy="205567"/>
          </a:xfrm>
          <a:prstGeom prst="ellipse">
            <a:avLst/>
          </a:prstGeom>
          <a:solidFill>
            <a:srgbClr val="FEC10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E84CF-29C5-5E08-0254-ECB6906FBAFD}"/>
              </a:ext>
            </a:extLst>
          </p:cNvPr>
          <p:cNvSpPr txBox="1"/>
          <p:nvPr/>
        </p:nvSpPr>
        <p:spPr>
          <a:xfrm>
            <a:off x="808346" y="1127373"/>
            <a:ext cx="8965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+mn-ea"/>
              </a:rPr>
              <a:t>서울 버스</a:t>
            </a:r>
            <a:r>
              <a:rPr lang="en-US" altLang="ko-KR" sz="3600" b="1" dirty="0">
                <a:latin typeface="+mn-ea"/>
              </a:rPr>
              <a:t>·</a:t>
            </a:r>
            <a:r>
              <a:rPr lang="ko-KR" altLang="en-US" sz="3600" b="1" dirty="0">
                <a:latin typeface="+mn-ea"/>
              </a:rPr>
              <a:t>지하철</a:t>
            </a:r>
            <a:r>
              <a:rPr lang="en-US" altLang="ko-KR" sz="3600" b="1" dirty="0">
                <a:latin typeface="+mn-ea"/>
              </a:rPr>
              <a:t>·</a:t>
            </a:r>
            <a:r>
              <a:rPr lang="ko-KR" altLang="en-US" sz="3600" b="1" dirty="0">
                <a:latin typeface="+mn-ea"/>
              </a:rPr>
              <a:t>택시 수요 변화와 </a:t>
            </a:r>
            <a:endParaRPr lang="en-US" altLang="ko-KR" sz="3600" b="1" dirty="0">
              <a:latin typeface="+mn-ea"/>
            </a:endParaRPr>
          </a:p>
          <a:p>
            <a:r>
              <a:rPr lang="ko-KR" altLang="en-US" sz="3600" b="1" dirty="0">
                <a:latin typeface="+mn-ea"/>
              </a:rPr>
              <a:t>자동차 대수 변화예측 모델 구현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80EE2-9822-9BBA-7BCB-CDEEFB0B360B}"/>
              </a:ext>
            </a:extLst>
          </p:cNvPr>
          <p:cNvSpPr txBox="1"/>
          <p:nvPr/>
        </p:nvSpPr>
        <p:spPr>
          <a:xfrm>
            <a:off x="821677" y="3057819"/>
            <a:ext cx="10944226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 kern="100" dirty="0">
                <a:effectLst/>
                <a:latin typeface="+mn-ea"/>
                <a:cs typeface="맑은 고딕" panose="020B0503020000020004" pitchFamily="50" charset="-127"/>
              </a:rPr>
              <a:t>Q1 :</a:t>
            </a:r>
            <a:r>
              <a:rPr lang="en-US" altLang="ko-KR" sz="1200" kern="100" dirty="0">
                <a:effectLst/>
                <a:latin typeface="+mn-ea"/>
                <a:cs typeface="맑은 고딕" panose="020B0503020000020004" pitchFamily="50" charset="-127"/>
              </a:rPr>
              <a:t> 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버스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택시의 이용 수요에 따라 자동차대수가 바뀔까</a:t>
            </a:r>
            <a:r>
              <a:rPr lang="en-US" altLang="ko-KR" sz="1200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12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00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repeatCount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7BF9E-8403-E2D5-A490-3BB12B939E11}"/>
              </a:ext>
            </a:extLst>
          </p:cNvPr>
          <p:cNvSpPr txBox="1"/>
          <p:nvPr/>
        </p:nvSpPr>
        <p:spPr>
          <a:xfrm>
            <a:off x="809624" y="1189508"/>
            <a:ext cx="6746240" cy="70359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서울 자동차 등록대수 추이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증가하는 추세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ko-KR" sz="2000" b="1" dirty="0">
              <a:highlight>
                <a:srgbClr val="FFFFFF"/>
              </a:highlight>
              <a:latin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0D9E66-F6E3-B5A0-D8FB-CC5D31EC2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4" y="1800270"/>
            <a:ext cx="5616427" cy="43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9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76A5583F-D7BD-F2B7-EE09-EB66305197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014321"/>
              </p:ext>
            </p:extLst>
          </p:nvPr>
        </p:nvGraphicFramePr>
        <p:xfrm>
          <a:off x="3189620" y="3183674"/>
          <a:ext cx="5455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847CF09-CE03-2A0E-08C1-C7C7C5C91990}"/>
              </a:ext>
            </a:extLst>
          </p:cNvPr>
          <p:cNvSpPr txBox="1"/>
          <p:nvPr/>
        </p:nvSpPr>
        <p:spPr>
          <a:xfrm>
            <a:off x="2263698" y="1189508"/>
            <a:ext cx="7377443" cy="70359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2021~2024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서울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버스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택시 이용건수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버스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지하철은 증가추세</a:t>
            </a:r>
            <a:endParaRPr lang="en-US" altLang="ko-KR" sz="2000" b="1" dirty="0">
              <a:highlight>
                <a:srgbClr val="FFFF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214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07125-6DF1-D792-7FE3-C108D82C6600}"/>
              </a:ext>
            </a:extLst>
          </p:cNvPr>
          <p:cNvSpPr txBox="1"/>
          <p:nvPr/>
        </p:nvSpPr>
        <p:spPr>
          <a:xfrm>
            <a:off x="809624" y="1189508"/>
            <a:ext cx="6746240" cy="70359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2024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서울 교통수단별 이용건수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지하철이 많음</a:t>
            </a:r>
            <a:endParaRPr lang="ko-KR" altLang="ko-KR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ko-KR" b="1" dirty="0">
              <a:highlight>
                <a:srgbClr val="FFFFFF"/>
              </a:highlight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5716868-2240-8C5E-D82A-8FB7C7785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24" y="2267852"/>
            <a:ext cx="5349704" cy="35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37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7E4F4-B64B-D101-CC48-170DBEB67346}"/>
              </a:ext>
            </a:extLst>
          </p:cNvPr>
          <p:cNvSpPr txBox="1"/>
          <p:nvPr/>
        </p:nvSpPr>
        <p:spPr>
          <a:xfrm>
            <a:off x="1480017" y="620798"/>
            <a:ext cx="6682907" cy="70359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자치구별 버스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택시 이용건수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(2021~2024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합계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en-US" altLang="ko-KR" sz="2000" b="1" dirty="0">
              <a:highlight>
                <a:srgbClr val="FFFFFF"/>
              </a:highlight>
              <a:latin typeface="+mn-ea"/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0B1C5FBC-3C80-71E7-43A1-091EDAF6C1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6527641"/>
              </p:ext>
            </p:extLst>
          </p:nvPr>
        </p:nvGraphicFramePr>
        <p:xfrm>
          <a:off x="1238435" y="1324388"/>
          <a:ext cx="4563267" cy="2662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18059C1F-E3C3-5754-4113-48F1D73EE2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8898185"/>
              </p:ext>
            </p:extLst>
          </p:nvPr>
        </p:nvGraphicFramePr>
        <p:xfrm>
          <a:off x="6278785" y="1324388"/>
          <a:ext cx="4563267" cy="2659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73D4D3B0-7259-C73F-F2D5-6905CEF5A7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0717223"/>
              </p:ext>
            </p:extLst>
          </p:nvPr>
        </p:nvGraphicFramePr>
        <p:xfrm>
          <a:off x="1238434" y="3904066"/>
          <a:ext cx="4563267" cy="26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D11BE9AE-960E-96EE-CE49-6B93F90B02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4438436"/>
              </p:ext>
            </p:extLst>
          </p:nvPr>
        </p:nvGraphicFramePr>
        <p:xfrm>
          <a:off x="6278784" y="382326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028334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5A36F-833C-E39E-89E9-312144972214}"/>
              </a:ext>
            </a:extLst>
          </p:cNvPr>
          <p:cNvSpPr txBox="1"/>
          <p:nvPr/>
        </p:nvSpPr>
        <p:spPr>
          <a:xfrm>
            <a:off x="1480018" y="899936"/>
            <a:ext cx="8304704" cy="424451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자치구별 버스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지하철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택시 이용건수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(2021~2024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년 합계</a:t>
            </a:r>
            <a:endParaRPr lang="en-US" altLang="ko-KR" sz="2000" b="1" dirty="0">
              <a:highlight>
                <a:srgbClr val="FFFFFF"/>
              </a:highlight>
              <a:latin typeface="+mn-ea"/>
            </a:endParaRP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DFAC6D4D-97D0-F416-2C95-CD590F0467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2317554"/>
              </p:ext>
            </p:extLst>
          </p:nvPr>
        </p:nvGraphicFramePr>
        <p:xfrm>
          <a:off x="912509" y="1377427"/>
          <a:ext cx="4782279" cy="2565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4DE126FC-961C-63B6-CE56-A49F112E42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755733"/>
              </p:ext>
            </p:extLst>
          </p:nvPr>
        </p:nvGraphicFramePr>
        <p:xfrm>
          <a:off x="5878026" y="1377427"/>
          <a:ext cx="4713839" cy="273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DECAF790-4E21-AF23-7892-049EF38021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5060152"/>
              </p:ext>
            </p:extLst>
          </p:nvPr>
        </p:nvGraphicFramePr>
        <p:xfrm>
          <a:off x="912509" y="4027989"/>
          <a:ext cx="4876926" cy="25653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1345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085597-6026-07FF-283C-C0DDD88F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47" y="1341060"/>
            <a:ext cx="5604653" cy="2314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9B235A-884D-876A-D91D-3178E94EEE87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3D2C27-10BD-E5D9-5481-A64BC25DD961}"/>
              </a:ext>
            </a:extLst>
          </p:cNvPr>
          <p:cNvSpPr/>
          <p:nvPr/>
        </p:nvSpPr>
        <p:spPr>
          <a:xfrm>
            <a:off x="5245100" y="1879600"/>
            <a:ext cx="1092200" cy="13462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34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DF6F-1A77-EE5B-A9C5-61CA8E3A7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EB45C4-034D-49DB-B948-BC626409A4C2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>
                    <a:lumMod val="65000"/>
                  </a:schemeClr>
                </a:solidFill>
              </a:rPr>
              <a:t>머신러닝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C10FF-139B-C826-0527-AE0090881B7B}"/>
              </a:ext>
            </a:extLst>
          </p:cNvPr>
          <p:cNvSpPr txBox="1"/>
          <p:nvPr/>
        </p:nvSpPr>
        <p:spPr>
          <a:xfrm>
            <a:off x="6964416" y="957554"/>
            <a:ext cx="4546601" cy="2471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0" dirty="0">
                <a:effectLst/>
                <a:latin typeface="+mn-ea"/>
              </a:rPr>
              <a:t>다중회귀사용</a:t>
            </a:r>
            <a:endParaRPr lang="en-US" altLang="ko-KR" sz="1500" b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pt-BR" altLang="ko-KR" sz="1500" b="0" i="0" dirty="0">
                <a:solidFill>
                  <a:srgbClr val="000000"/>
                </a:solidFill>
                <a:effectLst/>
                <a:latin typeface="+mn-ea"/>
              </a:rPr>
              <a:t>train R2: 0.3978897495563234 </a:t>
            </a:r>
          </a:p>
          <a:p>
            <a:pPr>
              <a:lnSpc>
                <a:spcPct val="150000"/>
              </a:lnSpc>
            </a:pPr>
            <a:r>
              <a:rPr lang="pt-BR" altLang="ko-KR" sz="1500" b="0" i="0" dirty="0">
                <a:solidFill>
                  <a:srgbClr val="000000"/>
                </a:solidFill>
                <a:effectLst/>
                <a:latin typeface="+mn-ea"/>
              </a:rPr>
              <a:t>test R2: -1.5642346770012923</a:t>
            </a:r>
          </a:p>
          <a:p>
            <a:pPr>
              <a:lnSpc>
                <a:spcPct val="150000"/>
              </a:lnSpc>
            </a:pPr>
            <a:endParaRPr lang="pt-BR" altLang="ko-KR" sz="15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pt-BR" altLang="ko-KR" sz="1500" b="0" dirty="0">
              <a:solidFill>
                <a:srgbClr val="000000"/>
              </a:solidFill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b="0" dirty="0" err="1">
                <a:effectLst/>
                <a:latin typeface="+mn-ea"/>
              </a:rPr>
              <a:t>과적합</a:t>
            </a:r>
            <a:endParaRPr lang="ko-KR" altLang="en-US" sz="15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6D3EF2-76F8-40E7-59C0-EB389DC94AB7}"/>
              </a:ext>
            </a:extLst>
          </p:cNvPr>
          <p:cNvSpPr txBox="1"/>
          <p:nvPr/>
        </p:nvSpPr>
        <p:spPr>
          <a:xfrm>
            <a:off x="6964416" y="3714021"/>
            <a:ext cx="4267198" cy="2817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latin typeface="+mn-ea"/>
              </a:rPr>
              <a:t>2</a:t>
            </a:r>
            <a:r>
              <a:rPr lang="ko-KR" altLang="en-US" sz="1500" dirty="0">
                <a:latin typeface="+mn-ea"/>
              </a:rPr>
              <a:t>차 다항식으로 변경</a:t>
            </a: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+mn-ea"/>
              </a:rPr>
              <a:t>규제 선형회귀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 err="1">
                <a:latin typeface="+mn-ea"/>
              </a:rPr>
              <a:t>릿지사용</a:t>
            </a:r>
            <a:r>
              <a:rPr lang="en-US" altLang="ko-KR" sz="1500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5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pt-BR" altLang="ko-KR" sz="1500" b="0" i="0" dirty="0">
                <a:solidFill>
                  <a:srgbClr val="000000"/>
                </a:solidFill>
                <a:effectLst/>
                <a:latin typeface="+mn-ea"/>
              </a:rPr>
              <a:t>train R2: 0.3046704699369751 </a:t>
            </a:r>
          </a:p>
          <a:p>
            <a:pPr>
              <a:lnSpc>
                <a:spcPct val="150000"/>
              </a:lnSpc>
            </a:pPr>
            <a:r>
              <a:rPr lang="pt-BR" altLang="ko-KR" sz="1500" b="0" i="0" dirty="0">
                <a:solidFill>
                  <a:srgbClr val="000000"/>
                </a:solidFill>
                <a:effectLst/>
                <a:latin typeface="+mn-ea"/>
              </a:rPr>
              <a:t>test R2: -0.7822748758644629</a:t>
            </a:r>
          </a:p>
          <a:p>
            <a:pPr>
              <a:lnSpc>
                <a:spcPct val="150000"/>
              </a:lnSpc>
            </a:pPr>
            <a:endParaRPr lang="pt-BR" altLang="ko-KR" sz="15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 err="1">
                <a:solidFill>
                  <a:srgbClr val="000000"/>
                </a:solidFill>
                <a:latin typeface="+mn-ea"/>
              </a:rPr>
              <a:t>과적합</a:t>
            </a:r>
            <a:endParaRPr lang="en-US" altLang="ko-KR" sz="1500" b="0" dirty="0">
              <a:solidFill>
                <a:srgbClr val="008000"/>
              </a:solidFill>
              <a:effectLst/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47B1DA-A4BD-C49D-2547-D43B9D3736DE}"/>
              </a:ext>
            </a:extLst>
          </p:cNvPr>
          <p:cNvSpPr txBox="1"/>
          <p:nvPr/>
        </p:nvSpPr>
        <p:spPr>
          <a:xfrm>
            <a:off x="503926" y="1348324"/>
            <a:ext cx="5103847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X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= '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버스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', '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지하철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', ‘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택시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’ (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이용건수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Y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= ＇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자동차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_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증감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’ (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전년대비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b="0" dirty="0">
              <a:effectLst/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FB43A5-09EC-7FD9-52B4-84E83070D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86" y="2632608"/>
            <a:ext cx="5945797" cy="157366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86C5073-06B3-A086-F873-2AA8030BE0BA}"/>
              </a:ext>
            </a:extLst>
          </p:cNvPr>
          <p:cNvSpPr/>
          <p:nvPr/>
        </p:nvSpPr>
        <p:spPr>
          <a:xfrm>
            <a:off x="2438401" y="2632608"/>
            <a:ext cx="2197099" cy="157366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4FCAB8-1B2A-B470-2310-92DB8D324D21}"/>
              </a:ext>
            </a:extLst>
          </p:cNvPr>
          <p:cNvSpPr/>
          <p:nvPr/>
        </p:nvSpPr>
        <p:spPr>
          <a:xfrm>
            <a:off x="5422090" y="2632608"/>
            <a:ext cx="950694" cy="157366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03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7D01D0-7A6A-D22B-0A0E-13A59924D8FA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>
                    <a:lumMod val="65000"/>
                  </a:schemeClr>
                </a:solidFill>
              </a:rPr>
              <a:t>머신러닝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CA4DD8-4725-51AC-B0C4-D2497A7EE17E}"/>
              </a:ext>
            </a:extLst>
          </p:cNvPr>
          <p:cNvSpPr txBox="1"/>
          <p:nvPr/>
        </p:nvSpPr>
        <p:spPr>
          <a:xfrm>
            <a:off x="914400" y="1193800"/>
            <a:ext cx="6096000" cy="295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규제 선형회귀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릿지사용</a:t>
            </a:r>
            <a:r>
              <a:rPr lang="en-US" altLang="ko-KR" dirty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Alpha </a:t>
            </a:r>
            <a:r>
              <a:rPr lang="ko-KR" altLang="en-US" dirty="0">
                <a:latin typeface="+mn-ea"/>
              </a:rPr>
              <a:t>값 튜닝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ko-KR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latin typeface="Consolas" panose="020B0609020204030204" pitchFamily="49" charset="0"/>
              </a:rPr>
              <a:t>alphas = [0.001, 0.01, 0.1, 1, 10, 100, 1000]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pt-BR" altLang="ko-KR" b="0" i="0" dirty="0">
                <a:effectLst/>
                <a:latin typeface="Consolas" panose="020B0609020204030204" pitchFamily="49" charset="0"/>
              </a:rPr>
              <a:t>train R2: 0.3046704699369751 </a:t>
            </a:r>
          </a:p>
          <a:p>
            <a:pPr>
              <a:lnSpc>
                <a:spcPct val="150000"/>
              </a:lnSpc>
            </a:pPr>
            <a:r>
              <a:rPr lang="pt-BR" altLang="ko-KR" b="0" i="0" dirty="0">
                <a:effectLst/>
                <a:latin typeface="Consolas" panose="020B0609020204030204" pitchFamily="49" charset="0"/>
              </a:rPr>
              <a:t>test R2: -0.7822748758644629</a:t>
            </a:r>
            <a:endParaRPr lang="en-US" altLang="ko-KR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015416-86C5-5138-8560-FCA545D70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65620"/>
            <a:ext cx="4953691" cy="1667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50F261-63BD-757C-A851-0552062BF8FB}"/>
              </a:ext>
            </a:extLst>
          </p:cNvPr>
          <p:cNvSpPr txBox="1"/>
          <p:nvPr/>
        </p:nvSpPr>
        <p:spPr>
          <a:xfrm>
            <a:off x="7010400" y="1193800"/>
            <a:ext cx="426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>
                <a:effectLst/>
                <a:latin typeface="+mn-ea"/>
              </a:rPr>
              <a:t>전반적으로 설명력은 낮아 변수</a:t>
            </a:r>
            <a:r>
              <a:rPr lang="en-US" altLang="ko-KR" b="0" dirty="0">
                <a:effectLst/>
                <a:latin typeface="+mn-ea"/>
              </a:rPr>
              <a:t>/</a:t>
            </a:r>
            <a:r>
              <a:rPr lang="ko-KR" altLang="en-US" b="0" dirty="0">
                <a:effectLst/>
                <a:latin typeface="+mn-ea"/>
              </a:rPr>
              <a:t>타깃 재정의가 필요하다</a:t>
            </a:r>
            <a:r>
              <a:rPr lang="en-US" altLang="ko-KR" b="0" dirty="0">
                <a:effectLst/>
                <a:latin typeface="+mn-ea"/>
              </a:rPr>
              <a:t>.</a:t>
            </a:r>
            <a:endParaRPr lang="ko-KR" altLang="en-US" b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212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3DEC41-E21B-2D97-9193-B5B5956E5F11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>
                    <a:lumMod val="65000"/>
                  </a:schemeClr>
                </a:solidFill>
              </a:rPr>
              <a:t>머신러닝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0E914-004D-10C1-AFF6-C8EE3A454FC9}"/>
              </a:ext>
            </a:extLst>
          </p:cNvPr>
          <p:cNvSpPr txBox="1"/>
          <p:nvPr/>
        </p:nvSpPr>
        <p:spPr>
          <a:xfrm>
            <a:off x="564069" y="1436649"/>
            <a:ext cx="5103847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X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= '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버스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', '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지하철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', ‘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택시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’ (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이용건수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Y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= 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자동차</a:t>
            </a:r>
            <a:r>
              <a:rPr lang="en-US" altLang="ko-KR" b="0" dirty="0">
                <a:effectLst/>
                <a:highlight>
                  <a:srgbClr val="FFFF00"/>
                </a:highlight>
                <a:latin typeface="+mn-ea"/>
              </a:rPr>
              <a:t>_</a:t>
            </a:r>
            <a:r>
              <a:rPr lang="ko-KR" altLang="en-US" b="0" dirty="0">
                <a:effectLst/>
                <a:highlight>
                  <a:srgbClr val="FFFF00"/>
                </a:highlight>
                <a:latin typeface="+mn-ea"/>
              </a:rPr>
              <a:t>전년대비 변화율</a:t>
            </a:r>
            <a:endParaRPr lang="en-US" altLang="ko-KR" b="0" dirty="0">
              <a:effectLst/>
              <a:highlight>
                <a:srgbClr val="FFFF00"/>
              </a:highlight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FDC4431-E05D-0ADD-3BEE-D578D86A6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26" y="4776527"/>
            <a:ext cx="4539089" cy="8026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B9DFC5-75F8-847F-63E7-2CF544BAC3FF}"/>
              </a:ext>
            </a:extLst>
          </p:cNvPr>
          <p:cNvSpPr txBox="1"/>
          <p:nvPr/>
        </p:nvSpPr>
        <p:spPr>
          <a:xfrm>
            <a:off x="639870" y="6066848"/>
            <a:ext cx="426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dirty="0" err="1">
                <a:effectLst/>
                <a:latin typeface="+mn-ea"/>
              </a:rPr>
              <a:t>과적합</a:t>
            </a:r>
            <a:endParaRPr lang="ko-KR" altLang="en-US" b="0" dirty="0">
              <a:effectLst/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C557A8A-CB24-E8D7-773E-215BD3DF9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72"/>
          <a:stretch/>
        </p:blipFill>
        <p:spPr>
          <a:xfrm>
            <a:off x="6699449" y="3811643"/>
            <a:ext cx="4185146" cy="1549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D2A8FE-B860-E12F-B195-4D7216CBD8BC}"/>
              </a:ext>
            </a:extLst>
          </p:cNvPr>
          <p:cNvSpPr txBox="1"/>
          <p:nvPr/>
        </p:nvSpPr>
        <p:spPr>
          <a:xfrm>
            <a:off x="6699449" y="2632608"/>
            <a:ext cx="4895108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0" dirty="0">
                <a:effectLst/>
                <a:latin typeface="+mn-ea"/>
              </a:rPr>
              <a:t>규제 </a:t>
            </a:r>
            <a:r>
              <a:rPr lang="ko-KR" altLang="en-US" b="0" dirty="0" err="1">
                <a:effectLst/>
                <a:latin typeface="+mn-ea"/>
              </a:rPr>
              <a:t>변경후</a:t>
            </a:r>
            <a:endParaRPr lang="en-US" altLang="ko-KR" b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0" dirty="0">
                <a:effectLst/>
                <a:latin typeface="+mn-ea"/>
              </a:rPr>
              <a:t>alphas = [0.001, 0.01, 0.1, 1, 10, 100, 1000]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+mn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F69ABB0-04F4-5831-642E-C2DE04988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86" y="2632608"/>
            <a:ext cx="5945797" cy="157366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553CF21-5C7E-23B9-78EF-AE217F48073F}"/>
              </a:ext>
            </a:extLst>
          </p:cNvPr>
          <p:cNvSpPr/>
          <p:nvPr/>
        </p:nvSpPr>
        <p:spPr>
          <a:xfrm>
            <a:off x="2438401" y="2632608"/>
            <a:ext cx="3035299" cy="157366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93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7B69D56-0E44-5E7C-1633-22FBE75C2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89" y="1622903"/>
            <a:ext cx="5319221" cy="3612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7C8332-D7F7-6B42-725F-A4B7503E1236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>
                    <a:lumMod val="65000"/>
                  </a:schemeClr>
                </a:solidFill>
              </a:rPr>
              <a:t>머신러닝</a:t>
            </a:r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1AA12-0467-FA82-32AA-C63D4D1F9CEB}"/>
              </a:ext>
            </a:extLst>
          </p:cNvPr>
          <p:cNvSpPr txBox="1"/>
          <p:nvPr/>
        </p:nvSpPr>
        <p:spPr>
          <a:xfrm>
            <a:off x="6692900" y="2350573"/>
            <a:ext cx="4895108" cy="29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결정계수는 각각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버스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-0.01,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지하철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0.03,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택시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0.05</a:t>
            </a:r>
          </a:p>
          <a:p>
            <a:pPr>
              <a:lnSpc>
                <a:spcPct val="150000"/>
              </a:lnSpc>
            </a:pPr>
            <a:r>
              <a:rPr lang="ko-KR" alt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으로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예측 설명력은 매우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약한것으로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판단되고</a:t>
            </a:r>
            <a:endParaRPr lang="en-US" altLang="ko-KR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자동차 대수 변화율을 유의미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하게 설명하거나 예측하기 어렵다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endParaRPr lang="en-US" altLang="ko-KR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744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9022F3-6357-97BB-1BDF-37CEBE8DB1B4}"/>
              </a:ext>
            </a:extLst>
          </p:cNvPr>
          <p:cNvSpPr txBox="1"/>
          <p:nvPr/>
        </p:nvSpPr>
        <p:spPr>
          <a:xfrm>
            <a:off x="2238375" y="3429000"/>
            <a:ext cx="4810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아쉬웠던 점</a:t>
            </a:r>
            <a:endParaRPr lang="en-US" altLang="ko-KR" dirty="0"/>
          </a:p>
          <a:p>
            <a:r>
              <a:rPr lang="ko-KR" altLang="en-US" dirty="0"/>
              <a:t>주제선정이 잘 안되었다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샘플데이터가 많이 부족했다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78C7A3-6C64-1A35-91C6-F8959E52BDA4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>
                    <a:lumMod val="65000"/>
                  </a:schemeClr>
                </a:solidFill>
              </a:rPr>
              <a:t>머신러닝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977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53273AA82447340AD3575D3659BD6CB" ma:contentTypeVersion="4" ma:contentTypeDescription="새 문서를 만듭니다." ma:contentTypeScope="" ma:versionID="d49374ce17ba482acf15c8aa845840e6">
  <xsd:schema xmlns:xsd="http://www.w3.org/2001/XMLSchema" xmlns:xs="http://www.w3.org/2001/XMLSchema" xmlns:p="http://schemas.microsoft.com/office/2006/metadata/properties" xmlns:ns3="6a1ad35f-000f-46f4-89b8-a39dbf665e50" targetNamespace="http://schemas.microsoft.com/office/2006/metadata/properties" ma:root="true" ma:fieldsID="858b35afe223a2f0b026d40c3ee9bbdb" ns3:_="">
    <xsd:import namespace="6a1ad35f-000f-46f4-89b8-a39dbf665e5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1ad35f-000f-46f4-89b8-a39dbf665e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81D23D-0E8A-4078-8D49-C25C209F4D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F83DAC-1FDD-4972-B2AB-FED6764C3C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1ad35f-000f-46f4-89b8-a39dbf665e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C628B7-6C97-497A-8E25-291AA5473F4D}">
  <ds:schemaRefs>
    <ds:schemaRef ds:uri="http://schemas.openxmlformats.org/package/2006/metadata/core-properties"/>
    <ds:schemaRef ds:uri="6a1ad35f-000f-46f4-89b8-a39dbf665e50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1352</TotalTime>
  <Words>681</Words>
  <Application>Microsoft Office PowerPoint</Application>
  <PresentationFormat>와이드스크린</PresentationFormat>
  <Paragraphs>118</Paragraphs>
  <Slides>12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Plus Jakarta Sans</vt:lpstr>
      <vt:lpstr>맑은 고딕</vt:lpstr>
      <vt:lpstr>Arial</vt:lpstr>
      <vt:lpstr>Consolas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성열 최</dc:creator>
  <cp:lastModifiedBy>User</cp:lastModifiedBy>
  <cp:revision>37</cp:revision>
  <dcterms:created xsi:type="dcterms:W3CDTF">2024-07-06T13:34:13Z</dcterms:created>
  <dcterms:modified xsi:type="dcterms:W3CDTF">2026-01-08T08:39:37Z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0x010100153273AA82447340AD3575D3659BD6CB</vt:lpwstr>
  </property>
</Properties>
</file>